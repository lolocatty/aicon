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0A46-A2C9-14DB-5ED4-E2BC30E31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3D9AE-6EC2-A53F-94D0-A826FB899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69BD3-1B29-B586-BD4A-E83F066C9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E6011-2457-584E-A1B2-454211F80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3BAA8-D8A9-DE65-0097-6D91321D9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40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A76B-DA9B-E418-50DF-77AC12B5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60BCD-C1F6-88F9-C839-41DF9B7D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CBC94-71CE-C856-7921-65DA7C7F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EB325-E4EC-54C2-EF9E-5D0D2DDD1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4EE20-433D-2D09-9748-3E44A0C5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0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E170-6AB4-51B3-50C3-62C56DF9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D52AF-5A0A-35D4-2692-D2659044A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9C90B-BD84-36FC-AC04-C837996A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EAAA8-B300-1C87-FF99-19EAE0AD9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8D666-DFAE-928D-0DD4-CB229D96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81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1A827-2973-3F0F-77E7-96C3F952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C6F9A-57A3-D56D-8171-A4CD8BE7E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DA5D7-B50B-EC5F-6CB5-A9D7821ED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8B41E-EB75-7DF2-B902-74FFFD59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D269C-5020-7AA7-040E-84CF37EA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9273B-158A-86F4-2BD9-3181C4FE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3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D1FD-CD79-463F-9947-55724DE57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D853E-0838-8F81-2738-5C9F1F63D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A353D-4BEC-3B06-204E-E745777AE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F7907-40A6-76A2-F066-FBAD8061F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E0F3C8-BCDC-6031-A4DE-12CA893EB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5C25A-FC33-AAE6-92AC-3C58EFE3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12B4E-D747-3B5F-EDF8-0595C2FB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C86AD-770C-3A87-2BAD-7BB607E4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4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3D8CE-0423-C1CF-21B5-96C0971B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EC2B4-25E0-1210-64E3-83315B3B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B81B7-6E1C-F46C-D62B-72E18848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DCFB7-DA7D-8316-BE53-A155659B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E752DC-2F2E-4BB0-6A3B-3001DD35B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D106B-3022-7A2D-C31A-1ADD1364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7A873-B928-C133-8B8C-9D20CEFA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4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D39E6-8358-CE0C-F5B3-E43F2CFC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584D9-E5CA-AE0B-ED07-BB273A7F6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F81E8-2F2C-7EB2-F6C6-5B92F9CB3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0C1C6-1C8D-2F9D-0241-948504C8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9C760-5ADF-2388-4BE9-A85C0DE5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921AB-7C1B-CC26-DA28-AB1AFAE9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0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7AA7-AFC4-DCF6-C789-130B08B16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AC063-FD07-96A2-ECC5-D91D71BF6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84CC2-A74B-B438-ADC9-7986DDC4D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F2FB4-ABCA-E5B5-410A-F60E9FCA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9ECF7-1C44-C102-F4A9-DC9B36AFB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18E2E-9DE6-9A6B-A4F1-21068069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8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9556-8C3A-7FE3-42D3-9EB0015D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F9915-2749-9FF3-2B5C-DD8D471A6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E36FE-11F1-0DF5-F894-7C942E7A9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85CF3-651B-1D0A-619A-4FEFE569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B5D61-6777-A22A-FD39-67676D52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6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087192-6F5E-E687-89BC-B5E74ACA4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2D719-2B23-E9CF-2D5D-C1CE547EE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5223B-0871-8414-A848-A0C3C86C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978DF-FA28-BFA7-14A7-8A7B0DCD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57174-2C9C-5865-E5C1-44F9B8BD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2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624E0-CFFE-A00B-4B62-433D0C45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CE782-F2D9-9A35-C9BC-5F3D0A952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12A24-F9F7-6769-9E65-3238641DE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0ECCB-AB40-4144-9982-6CD314C826D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21047-560A-6C78-F01F-66518605B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86ABA-5D70-7AF1-A6F9-4774F8B35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1FBF6-015F-4A45-B0B3-69A3B257F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4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3F31BF3-1518-ADED-36D7-E3979C8107A9}"/>
              </a:ext>
            </a:extLst>
          </p:cNvPr>
          <p:cNvSpPr/>
          <p:nvPr/>
        </p:nvSpPr>
        <p:spPr>
          <a:xfrm>
            <a:off x="5588000" y="762000"/>
            <a:ext cx="1016000" cy="1016000"/>
          </a:xfrm>
          <a:prstGeom prst="ellipse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D82450-F08F-A85C-7221-C7300DE29D5F}"/>
              </a:ext>
            </a:extLst>
          </p:cNvPr>
          <p:cNvSpPr txBox="1"/>
          <p:nvPr/>
        </p:nvSpPr>
        <p:spPr>
          <a:xfrm>
            <a:off x="5588000" y="883920"/>
            <a:ext cx="1016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🤖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A6CD6-81D8-80D8-8904-B37B8B2804E9}"/>
              </a:ext>
            </a:extLst>
          </p:cNvPr>
          <p:cNvSpPr txBox="1"/>
          <p:nvPr/>
        </p:nvSpPr>
        <p:spPr>
          <a:xfrm>
            <a:off x="0" y="1968500"/>
            <a:ext cx="12192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247BE-B9AF-C47A-26FD-648E9218D9B2}"/>
              </a:ext>
            </a:extLst>
          </p:cNvPr>
          <p:cNvSpPr txBox="1"/>
          <p:nvPr/>
        </p:nvSpPr>
        <p:spPr>
          <a:xfrm>
            <a:off x="0" y="2921000"/>
            <a:ext cx="1219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2600" b="1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مساعد ذكاء اصطناعي داخل </a:t>
            </a:r>
            <a:r>
              <a:rPr lang="en-US" sz="2600" b="1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Autodesk Revit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B5CB0-6D9E-9DCE-D2F7-EBFA860CED4D}"/>
              </a:ext>
            </a:extLst>
          </p:cNvPr>
          <p:cNvSpPr txBox="1"/>
          <p:nvPr/>
        </p:nvSpPr>
        <p:spPr>
          <a:xfrm>
            <a:off x="1397000" y="3619500"/>
            <a:ext cx="939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50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ينفّذ أوامر المهندسين بلغة طبيعية — بخصوصية كاملة داخل شبكة الشركة وبتكلفة تشغيل صفرية</a:t>
            </a:r>
            <a:endParaRPr lang="en-US" sz="1500">
              <a:solidFill>
                <a:srgbClr val="CADC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E67D5C-AD07-FA33-BEF5-F2EDF7A10C9B}"/>
              </a:ext>
            </a:extLst>
          </p:cNvPr>
          <p:cNvSpPr/>
          <p:nvPr/>
        </p:nvSpPr>
        <p:spPr>
          <a:xfrm>
            <a:off x="1257300" y="4445000"/>
            <a:ext cx="2921000" cy="1206500"/>
          </a:xfrm>
          <a:prstGeom prst="roundRect">
            <a:avLst>
              <a:gd name="adj" fmla="val 9000"/>
            </a:avLst>
          </a:prstGeom>
          <a:solidFill>
            <a:srgbClr val="2A35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282D5C-70C0-F5DF-A940-1A8CB15D0B0D}"/>
              </a:ext>
            </a:extLst>
          </p:cNvPr>
          <p:cNvSpPr txBox="1"/>
          <p:nvPr/>
        </p:nvSpPr>
        <p:spPr>
          <a:xfrm>
            <a:off x="1257300" y="4572000"/>
            <a:ext cx="2921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E8B3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F2849-98C6-040A-955A-7518E84273BA}"/>
              </a:ext>
            </a:extLst>
          </p:cNvPr>
          <p:cNvSpPr txBox="1"/>
          <p:nvPr/>
        </p:nvSpPr>
        <p:spPr>
          <a:xfrm>
            <a:off x="1257300" y="5143500"/>
            <a:ext cx="2921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أداة تتحكم في </a:t>
            </a:r>
            <a:r>
              <a:rPr lang="en-US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61BC0F-68B9-4706-91D7-1D79FDA7DB5B}"/>
              </a:ext>
            </a:extLst>
          </p:cNvPr>
          <p:cNvSpPr/>
          <p:nvPr/>
        </p:nvSpPr>
        <p:spPr>
          <a:xfrm>
            <a:off x="4635500" y="4445000"/>
            <a:ext cx="2921000" cy="1206500"/>
          </a:xfrm>
          <a:prstGeom prst="roundRect">
            <a:avLst>
              <a:gd name="adj" fmla="val 9000"/>
            </a:avLst>
          </a:prstGeom>
          <a:solidFill>
            <a:srgbClr val="2A35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DC18A8-EB90-1DEC-5C9E-7B70A063D304}"/>
              </a:ext>
            </a:extLst>
          </p:cNvPr>
          <p:cNvSpPr txBox="1"/>
          <p:nvPr/>
        </p:nvSpPr>
        <p:spPr>
          <a:xfrm>
            <a:off x="4635500" y="4572000"/>
            <a:ext cx="2921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E8B3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0A7B93-5A2A-CF23-F30B-A1026075A41B}"/>
              </a:ext>
            </a:extLst>
          </p:cNvPr>
          <p:cNvSpPr txBox="1"/>
          <p:nvPr/>
        </p:nvSpPr>
        <p:spPr>
          <a:xfrm>
            <a:off x="4635500" y="5143500"/>
            <a:ext cx="2921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نماذج ذكاء مدعومة</a:t>
            </a:r>
            <a:endParaRPr lang="en-US" sz="1250">
              <a:solidFill>
                <a:srgbClr val="CADC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E40C9F-A6E1-C515-B126-CF7389C3C352}"/>
              </a:ext>
            </a:extLst>
          </p:cNvPr>
          <p:cNvSpPr/>
          <p:nvPr/>
        </p:nvSpPr>
        <p:spPr>
          <a:xfrm>
            <a:off x="8013700" y="4445000"/>
            <a:ext cx="2921000" cy="1206500"/>
          </a:xfrm>
          <a:prstGeom prst="roundRect">
            <a:avLst>
              <a:gd name="adj" fmla="val 9000"/>
            </a:avLst>
          </a:prstGeom>
          <a:solidFill>
            <a:srgbClr val="2A35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B6CDB8-0B07-0B37-1CC4-218D535785C6}"/>
              </a:ext>
            </a:extLst>
          </p:cNvPr>
          <p:cNvSpPr txBox="1"/>
          <p:nvPr/>
        </p:nvSpPr>
        <p:spPr>
          <a:xfrm>
            <a:off x="8013700" y="4572000"/>
            <a:ext cx="2921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E8B3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19E080-6131-D501-237B-539D7BF0138A}"/>
              </a:ext>
            </a:extLst>
          </p:cNvPr>
          <p:cNvSpPr txBox="1"/>
          <p:nvPr/>
        </p:nvSpPr>
        <p:spPr>
          <a:xfrm>
            <a:off x="8013700" y="5143500"/>
            <a:ext cx="2921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بياناتنا تبقى داخل الشركة</a:t>
            </a:r>
            <a:endParaRPr lang="en-US" sz="1250">
              <a:solidFill>
                <a:srgbClr val="CADC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3FC563-B182-B6DC-F76B-FCF86448C395}"/>
              </a:ext>
            </a:extLst>
          </p:cNvPr>
          <p:cNvSpPr txBox="1"/>
          <p:nvPr/>
        </p:nvSpPr>
        <p:spPr>
          <a:xfrm>
            <a:off x="0" y="6286500"/>
            <a:ext cx="1219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100">
                <a:solidFill>
                  <a:srgbClr val="8FA3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إعداد: قسم التصميم — يوليو 2026</a:t>
            </a:r>
            <a:endParaRPr lang="en-US" sz="1100">
              <a:solidFill>
                <a:srgbClr val="8FA3C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85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B3827C-4E12-78C3-71B0-B11809BEBFDA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ماذا يفعل الذكاء الاصطناعي داخل </a:t>
            </a:r>
            <a:r>
              <a:rPr lang="en-US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Revit؟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C472D9-769E-0CA3-F21A-74A5C42F51E5}"/>
              </a:ext>
            </a:extLst>
          </p:cNvPr>
          <p:cNvSpPr/>
          <p:nvPr/>
        </p:nvSpPr>
        <p:spPr>
          <a:xfrm>
            <a:off x="10985500" y="1206500"/>
            <a:ext cx="571500" cy="5715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41410-9AB2-DFF2-13B6-67DE27ADA87D}"/>
              </a:ext>
            </a:extLst>
          </p:cNvPr>
          <p:cNvSpPr txBox="1"/>
          <p:nvPr/>
        </p:nvSpPr>
        <p:spPr>
          <a:xfrm>
            <a:off x="10985500" y="12750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BDAF0-C13D-DD49-22C2-FFBF98F89C64}"/>
              </a:ext>
            </a:extLst>
          </p:cNvPr>
          <p:cNvSpPr txBox="1"/>
          <p:nvPr/>
        </p:nvSpPr>
        <p:spPr>
          <a:xfrm>
            <a:off x="635000" y="11557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أوامر بلغة طبيعية بدل القوائم والنقرات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1B2C5-1FF2-87CC-0A9F-E4EB873FC6A4}"/>
              </a:ext>
            </a:extLst>
          </p:cNvPr>
          <p:cNvSpPr txBox="1"/>
          <p:nvPr/>
        </p:nvSpPr>
        <p:spPr>
          <a:xfrm>
            <a:off x="635000" y="15113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«اعمل شيت لكل دور» — «لوّن الحوائط حسب معدل الحريق» — «كم موقف سيارة في المشروع؟» تنفيذ فوري.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BA4D40-B399-398A-EBE5-14366BB0A120}"/>
              </a:ext>
            </a:extLst>
          </p:cNvPr>
          <p:cNvSpPr/>
          <p:nvPr/>
        </p:nvSpPr>
        <p:spPr>
          <a:xfrm>
            <a:off x="10985500" y="2273300"/>
            <a:ext cx="571500" cy="571500"/>
          </a:xfrm>
          <a:prstGeom prst="ellipse">
            <a:avLst/>
          </a:prstGeom>
          <a:solidFill>
            <a:srgbClr val="2C5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B5B6C-5373-E5C1-B993-15A44BF8A9E1}"/>
              </a:ext>
            </a:extLst>
          </p:cNvPr>
          <p:cNvSpPr txBox="1"/>
          <p:nvPr/>
        </p:nvSpPr>
        <p:spPr>
          <a:xfrm>
            <a:off x="10985500" y="23418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7E3077-CB40-717D-DEAC-F49E0CB70DA3}"/>
              </a:ext>
            </a:extLst>
          </p:cNvPr>
          <p:cNvSpPr txBox="1"/>
          <p:nvPr/>
        </p:nvSpPr>
        <p:spPr>
          <a:xfrm>
            <a:off x="635000" y="22225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أتمتة أعمال التوثيق المتكررة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26BE8-8F51-13C5-A274-E99AAF31E446}"/>
              </a:ext>
            </a:extLst>
          </p:cNvPr>
          <p:cNvSpPr txBox="1"/>
          <p:nvPr/>
        </p:nvSpPr>
        <p:spPr>
          <a:xfrm>
            <a:off x="635000" y="25781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الشيتات، قوالب العرض، الفلاتر، القطاعات، الواجهات، جداول الكميات، إعادة التسمية الجماعية.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789C64-FCF3-A8F4-33CF-1F435AE8CB60}"/>
              </a:ext>
            </a:extLst>
          </p:cNvPr>
          <p:cNvSpPr/>
          <p:nvPr/>
        </p:nvSpPr>
        <p:spPr>
          <a:xfrm>
            <a:off x="10985500" y="3340100"/>
            <a:ext cx="571500" cy="571500"/>
          </a:xfrm>
          <a:prstGeom prst="ellipse">
            <a:avLst/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B804EA-7A20-A271-D2CB-05DB8DC826C3}"/>
              </a:ext>
            </a:extLst>
          </p:cNvPr>
          <p:cNvSpPr txBox="1"/>
          <p:nvPr/>
        </p:nvSpPr>
        <p:spPr>
          <a:xfrm>
            <a:off x="10985500" y="34086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📊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C8585D-3D23-0A6B-612B-4179D5C6791F}"/>
              </a:ext>
            </a:extLst>
          </p:cNvPr>
          <p:cNvSpPr txBox="1"/>
          <p:nvPr/>
        </p:nvSpPr>
        <p:spPr>
          <a:xfrm>
            <a:off x="635000" y="32893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قراءة ملفات العمل وتنفيذها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1E681D-0928-8604-5B0B-597E0D46F8A0}"/>
              </a:ext>
            </a:extLst>
          </p:cNvPr>
          <p:cNvSpPr txBox="1"/>
          <p:nvPr/>
        </p:nvSpPr>
        <p:spPr>
          <a:xfrm>
            <a:off x="635000" y="36449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يقرأ 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والصور: جدول أبواب من إكسل ← ينشئ الشيتات والجداول المطلوبة مباشرة.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512275C-359C-04B7-877E-7F5A5EBF8A61}"/>
              </a:ext>
            </a:extLst>
          </p:cNvPr>
          <p:cNvSpPr/>
          <p:nvPr/>
        </p:nvSpPr>
        <p:spPr>
          <a:xfrm>
            <a:off x="10985500" y="4406900"/>
            <a:ext cx="571500" cy="571500"/>
          </a:xfrm>
          <a:prstGeom prst="ellipse">
            <a:avLst/>
          </a:prstGeom>
          <a:solidFill>
            <a:srgbClr val="8A4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D0F30E-78DA-4F84-1B2E-706B057B42DA}"/>
              </a:ext>
            </a:extLst>
          </p:cNvPr>
          <p:cNvSpPr txBox="1"/>
          <p:nvPr/>
        </p:nvSpPr>
        <p:spPr>
          <a:xfrm>
            <a:off x="10985500" y="44754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35FF1D-094A-1A90-74BF-987225150667}"/>
              </a:ext>
            </a:extLst>
          </p:cNvPr>
          <p:cNvSpPr txBox="1"/>
          <p:nvPr/>
        </p:nvSpPr>
        <p:spPr>
          <a:xfrm>
            <a:off x="635000" y="43561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يرى المخططات ويحللها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1F45B5-5263-AC87-F565-3CAF6174D847}"/>
              </a:ext>
            </a:extLst>
          </p:cNvPr>
          <p:cNvSpPr txBox="1"/>
          <p:nvPr/>
        </p:nvSpPr>
        <p:spPr>
          <a:xfrm>
            <a:off x="635000" y="47117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يصدّر الفيو صورة ويحلل ما يراه: ملاحظات على التوزيع، مقارنة مخطط 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بالنموذج.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279AFA-9FEC-2CE7-B36D-33763EEA53AE}"/>
              </a:ext>
            </a:extLst>
          </p:cNvPr>
          <p:cNvSpPr/>
          <p:nvPr/>
        </p:nvSpPr>
        <p:spPr>
          <a:xfrm>
            <a:off x="10985500" y="5473700"/>
            <a:ext cx="571500" cy="571500"/>
          </a:xfrm>
          <a:prstGeom prst="ellipse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FD355C-51F6-3529-E3F5-4154D6EAA88E}"/>
              </a:ext>
            </a:extLst>
          </p:cNvPr>
          <p:cNvSpPr txBox="1"/>
          <p:nvPr/>
        </p:nvSpPr>
        <p:spPr>
          <a:xfrm>
            <a:off x="10985500" y="55422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⚡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6D54D2-6BD9-C2F8-0BD5-03B0637654A6}"/>
              </a:ext>
            </a:extLst>
          </p:cNvPr>
          <p:cNvSpPr txBox="1"/>
          <p:nvPr/>
        </p:nvSpPr>
        <p:spPr>
          <a:xfrm>
            <a:off x="635000" y="54229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استعلامات وفحص جودة فورية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ABA41F-8A27-8B37-8251-7289C8F2D4D9}"/>
              </a:ext>
            </a:extLst>
          </p:cNvPr>
          <p:cNvSpPr txBox="1"/>
          <p:nvPr/>
        </p:nvSpPr>
        <p:spPr>
          <a:xfrm>
            <a:off x="635000" y="57785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عدّ العناصر، كشف التعارضات، قياس المسافات، مراجعة التحذيرات — إجابات في ثوانٍ.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55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A39609-E404-6444-D697-0B7826321DFC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أمثلة حقيقية نفّذناها بالفعل على مشروع قائم</a:t>
            </a:r>
            <a:endParaRPr lang="en-US" sz="29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E46CD0-76DF-57DB-0537-7FDCF3CB7256}"/>
              </a:ext>
            </a:extLst>
          </p:cNvPr>
          <p:cNvSpPr/>
          <p:nvPr/>
        </p:nvSpPr>
        <p:spPr>
          <a:xfrm>
            <a:off x="6223000" y="1270000"/>
            <a:ext cx="5397500" cy="1270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32D323-3E23-F06C-9070-10FC760A9B88}"/>
              </a:ext>
            </a:extLst>
          </p:cNvPr>
          <p:cNvSpPr/>
          <p:nvPr/>
        </p:nvSpPr>
        <p:spPr>
          <a:xfrm>
            <a:off x="11087100" y="1397000"/>
            <a:ext cx="381000" cy="381000"/>
          </a:xfrm>
          <a:prstGeom prst="ellipse">
            <a:avLst/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9CDA9-0A88-9C7C-7E18-ED73420E7DF6}"/>
              </a:ext>
            </a:extLst>
          </p:cNvPr>
          <p:cNvSpPr txBox="1"/>
          <p:nvPr/>
        </p:nvSpPr>
        <p:spPr>
          <a:xfrm>
            <a:off x="11087100" y="144272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A28FA-7BC1-58EF-FDF6-5CB105DA14BC}"/>
              </a:ext>
            </a:extLst>
          </p:cNvPr>
          <p:cNvSpPr txBox="1"/>
          <p:nvPr/>
        </p:nvSpPr>
        <p:spPr>
          <a:xfrm>
            <a:off x="6400800" y="1384300"/>
            <a:ext cx="45847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«اعمل شيت وسمّيه مرحبا»</a:t>
            </a:r>
            <a:endParaRPr lang="en-US" sz="13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993FD-A7DF-487F-87EB-42FB1943C1DE}"/>
              </a:ext>
            </a:extLst>
          </p:cNvPr>
          <p:cNvSpPr txBox="1"/>
          <p:nvPr/>
        </p:nvSpPr>
        <p:spPr>
          <a:xfrm>
            <a:off x="6400800" y="1828800"/>
            <a:ext cx="501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أنشأ الشيت </a:t>
            </a:r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AR-001 </a:t>
            </a:r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بالاسم والرقم — بأمر واحد بالعربية.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93C904-119C-2D7B-C25C-C4785F729A66}"/>
              </a:ext>
            </a:extLst>
          </p:cNvPr>
          <p:cNvSpPr/>
          <p:nvPr/>
        </p:nvSpPr>
        <p:spPr>
          <a:xfrm>
            <a:off x="444500" y="1270000"/>
            <a:ext cx="5397500" cy="1270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7FE316-F13B-C62A-64E4-A75CE85AED3E}"/>
              </a:ext>
            </a:extLst>
          </p:cNvPr>
          <p:cNvSpPr/>
          <p:nvPr/>
        </p:nvSpPr>
        <p:spPr>
          <a:xfrm>
            <a:off x="5308600" y="1397000"/>
            <a:ext cx="381000" cy="381000"/>
          </a:xfrm>
          <a:prstGeom prst="ellipse">
            <a:avLst/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D1ACB5-4B81-E673-DBDB-D1A5D042C981}"/>
              </a:ext>
            </a:extLst>
          </p:cNvPr>
          <p:cNvSpPr txBox="1"/>
          <p:nvPr/>
        </p:nvSpPr>
        <p:spPr>
          <a:xfrm>
            <a:off x="5308600" y="144272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99E4B1-50BF-EFDA-0348-E11C55B99AA7}"/>
              </a:ext>
            </a:extLst>
          </p:cNvPr>
          <p:cNvSpPr txBox="1"/>
          <p:nvPr/>
        </p:nvSpPr>
        <p:spPr>
          <a:xfrm>
            <a:off x="622300" y="1384300"/>
            <a:ext cx="45847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«اعمل قالب عرض وفلتر يخفي حوائط 1</a:t>
            </a:r>
            <a:r>
              <a:rPr lang="en-US" sz="13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958DDD-3BA4-AC23-E7BD-072CA9ADC320}"/>
              </a:ext>
            </a:extLst>
          </p:cNvPr>
          <p:cNvSpPr txBox="1"/>
          <p:nvPr/>
        </p:nvSpPr>
        <p:spPr>
          <a:xfrm>
            <a:off x="622300" y="1828800"/>
            <a:ext cx="501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أنشأ القالب والفلتر وطبّقه — عمل ~30 دقيقة أُنجز في دقيقة.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1A55D6-40EA-8BD4-7277-09673F32360A}"/>
              </a:ext>
            </a:extLst>
          </p:cNvPr>
          <p:cNvSpPr/>
          <p:nvPr/>
        </p:nvSpPr>
        <p:spPr>
          <a:xfrm>
            <a:off x="6223000" y="2819400"/>
            <a:ext cx="5397500" cy="1270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2DB1F2-7D2E-E6B4-0914-98477B357941}"/>
              </a:ext>
            </a:extLst>
          </p:cNvPr>
          <p:cNvSpPr/>
          <p:nvPr/>
        </p:nvSpPr>
        <p:spPr>
          <a:xfrm>
            <a:off x="11087100" y="2946400"/>
            <a:ext cx="381000" cy="381000"/>
          </a:xfrm>
          <a:prstGeom prst="ellipse">
            <a:avLst/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13C590-7559-3841-6DE7-CE19491F3F68}"/>
              </a:ext>
            </a:extLst>
          </p:cNvPr>
          <p:cNvSpPr txBox="1"/>
          <p:nvPr/>
        </p:nvSpPr>
        <p:spPr>
          <a:xfrm>
            <a:off x="11087100" y="299212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F9CD8-D588-D5ED-5A6D-B4F12C6F7514}"/>
              </a:ext>
            </a:extLst>
          </p:cNvPr>
          <p:cNvSpPr txBox="1"/>
          <p:nvPr/>
        </p:nvSpPr>
        <p:spPr>
          <a:xfrm>
            <a:off x="6400800" y="2933700"/>
            <a:ext cx="45847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«اعمل جدول أبواب بأعمدة محددة»</a:t>
            </a:r>
            <a:endParaRPr lang="en-US" sz="13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FBB78B-8FAA-0889-3971-ABBF47C34989}"/>
              </a:ext>
            </a:extLst>
          </p:cNvPr>
          <p:cNvSpPr txBox="1"/>
          <p:nvPr/>
        </p:nvSpPr>
        <p:spPr>
          <a:xfrm>
            <a:off x="6400800" y="3378200"/>
            <a:ext cx="501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أنشأ جدول </a:t>
            </a:r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 </a:t>
            </a:r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بالأعمدة المطلوبة فورًا.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414D68-50FE-9194-AB43-1EED781591C8}"/>
              </a:ext>
            </a:extLst>
          </p:cNvPr>
          <p:cNvSpPr/>
          <p:nvPr/>
        </p:nvSpPr>
        <p:spPr>
          <a:xfrm>
            <a:off x="444500" y="2819400"/>
            <a:ext cx="5397500" cy="1270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4A5FF9-B1DF-3DBE-5D32-3B10F98D9AC7}"/>
              </a:ext>
            </a:extLst>
          </p:cNvPr>
          <p:cNvSpPr/>
          <p:nvPr/>
        </p:nvSpPr>
        <p:spPr>
          <a:xfrm>
            <a:off x="5308600" y="2946400"/>
            <a:ext cx="381000" cy="381000"/>
          </a:xfrm>
          <a:prstGeom prst="ellipse">
            <a:avLst/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72846B-64C5-656E-DC58-C712A55DF3B8}"/>
              </a:ext>
            </a:extLst>
          </p:cNvPr>
          <p:cNvSpPr txBox="1"/>
          <p:nvPr/>
        </p:nvSpPr>
        <p:spPr>
          <a:xfrm>
            <a:off x="5308600" y="299212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343C57-9C9C-B606-72F5-CEE370751879}"/>
              </a:ext>
            </a:extLst>
          </p:cNvPr>
          <p:cNvSpPr txBox="1"/>
          <p:nvPr/>
        </p:nvSpPr>
        <p:spPr>
          <a:xfrm>
            <a:off x="622300" y="2933700"/>
            <a:ext cx="45847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«كم موقف سيارة في المشروع؟»</a:t>
            </a:r>
            <a:endParaRPr lang="en-US" sz="13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F57BAA-0EFE-1EC1-C1CB-1548E9B7A144}"/>
              </a:ext>
            </a:extLst>
          </p:cNvPr>
          <p:cNvSpPr txBox="1"/>
          <p:nvPr/>
        </p:nvSpPr>
        <p:spPr>
          <a:xfrm>
            <a:off x="622300" y="3378200"/>
            <a:ext cx="501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119 موقفًا (111 عادي + 8 متحرك) — إجابة موثقة في ثوانٍ.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D61E3BB-5B80-7044-BC50-881BC29B26F9}"/>
              </a:ext>
            </a:extLst>
          </p:cNvPr>
          <p:cNvSpPr/>
          <p:nvPr/>
        </p:nvSpPr>
        <p:spPr>
          <a:xfrm>
            <a:off x="6223000" y="4368800"/>
            <a:ext cx="5397500" cy="1270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0C05884-F194-BF5F-11D2-A3079A9DFCA2}"/>
              </a:ext>
            </a:extLst>
          </p:cNvPr>
          <p:cNvSpPr/>
          <p:nvPr/>
        </p:nvSpPr>
        <p:spPr>
          <a:xfrm>
            <a:off x="11087100" y="4495800"/>
            <a:ext cx="381000" cy="381000"/>
          </a:xfrm>
          <a:prstGeom prst="ellipse">
            <a:avLst/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4A162B-7C38-8014-6385-6B85436D1685}"/>
              </a:ext>
            </a:extLst>
          </p:cNvPr>
          <p:cNvSpPr txBox="1"/>
          <p:nvPr/>
        </p:nvSpPr>
        <p:spPr>
          <a:xfrm>
            <a:off x="11087100" y="454152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✅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3035FF-5905-9A20-62B0-AF83CB2EE36D}"/>
              </a:ext>
            </a:extLst>
          </p:cNvPr>
          <p:cNvSpPr txBox="1"/>
          <p:nvPr/>
        </p:nvSpPr>
        <p:spPr>
          <a:xfrm>
            <a:off x="6400800" y="4483100"/>
            <a:ext cx="45847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«اعمل قطاع من نقطة إلى نقطة»</a:t>
            </a:r>
            <a:endParaRPr lang="en-US" sz="13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6E3D94-C5B8-DA9B-BC85-5A5D1535A851}"/>
              </a:ext>
            </a:extLst>
          </p:cNvPr>
          <p:cNvSpPr txBox="1"/>
          <p:nvPr/>
        </p:nvSpPr>
        <p:spPr>
          <a:xfrm>
            <a:off x="6400800" y="4927600"/>
            <a:ext cx="501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أنشأ </a:t>
            </a:r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</a:t>
            </a:r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باسم ومدى محددين بإحداثيات مليمترية.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BF9CD11-7E51-BF14-DED3-299C1EB88BBD}"/>
              </a:ext>
            </a:extLst>
          </p:cNvPr>
          <p:cNvSpPr/>
          <p:nvPr/>
        </p:nvSpPr>
        <p:spPr>
          <a:xfrm>
            <a:off x="444500" y="4368800"/>
            <a:ext cx="5397500" cy="1270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B08AAAB-47ED-1E15-4D6A-C29D0397F60D}"/>
              </a:ext>
            </a:extLst>
          </p:cNvPr>
          <p:cNvSpPr/>
          <p:nvPr/>
        </p:nvSpPr>
        <p:spPr>
          <a:xfrm>
            <a:off x="5308600" y="4495800"/>
            <a:ext cx="381000" cy="381000"/>
          </a:xfrm>
          <a:prstGeom prst="ellipse">
            <a:avLst/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95580E-5E7E-C4BB-A6E6-4DA6A87C3A6D}"/>
              </a:ext>
            </a:extLst>
          </p:cNvPr>
          <p:cNvSpPr txBox="1"/>
          <p:nvPr/>
        </p:nvSpPr>
        <p:spPr>
          <a:xfrm>
            <a:off x="5308600" y="454152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0FEC80-073F-C679-3950-5A8B561B4FC3}"/>
              </a:ext>
            </a:extLst>
          </p:cNvPr>
          <p:cNvSpPr txBox="1"/>
          <p:nvPr/>
        </p:nvSpPr>
        <p:spPr>
          <a:xfrm>
            <a:off x="622300" y="4483100"/>
            <a:ext cx="45847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«غيّر اسم كل الفيوهات التي فيها </a:t>
            </a:r>
            <a:r>
              <a:rPr lang="en-US" sz="13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Copy»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DE3D4F-67F1-C286-80D0-9AF88F618CE4}"/>
              </a:ext>
            </a:extLst>
          </p:cNvPr>
          <p:cNvSpPr txBox="1"/>
          <p:nvPr/>
        </p:nvSpPr>
        <p:spPr>
          <a:xfrm>
            <a:off x="622300" y="4927600"/>
            <a:ext cx="501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إعادة تسمية جماعية بأمر واحد بدل ساعة من النقر.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218BF3-7349-D13D-3CFE-4C0D11127320}"/>
              </a:ext>
            </a:extLst>
          </p:cNvPr>
          <p:cNvSpPr txBox="1"/>
          <p:nvPr/>
        </p:nvSpPr>
        <p:spPr>
          <a:xfrm>
            <a:off x="546100" y="6400800"/>
            <a:ext cx="11099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9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جميع الأمثلة أعلاه نُفذت فعليًا عبر </a:t>
            </a:r>
            <a:r>
              <a:rPr lang="en-US" sz="9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AICon </a:t>
            </a:r>
            <a:r>
              <a:rPr lang="ar-EG" sz="9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على نموذج مشروع حقيقي داخل الشركة.</a:t>
            </a:r>
            <a:endParaRPr lang="en-US" sz="9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07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A19A6D-F85F-1162-0CD9-589180BC65B2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أين يذهب وقت المهندس؟ وماذا نوفّر؟</a:t>
            </a:r>
            <a:endParaRPr lang="en-US" sz="29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7F931B-604F-FD7D-E36B-5793AC8D9355}"/>
              </a:ext>
            </a:extLst>
          </p:cNvPr>
          <p:cNvSpPr txBox="1"/>
          <p:nvPr/>
        </p:nvSpPr>
        <p:spPr>
          <a:xfrm>
            <a:off x="4864100" y="14732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إنشاء 30 شيت وتوزيع الفيوهات</a:t>
            </a:r>
            <a:endParaRPr lang="en-US" sz="11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3304F6-00F4-F0BF-A05E-39FFDFAB845C}"/>
              </a:ext>
            </a:extLst>
          </p:cNvPr>
          <p:cNvSpPr/>
          <p:nvPr/>
        </p:nvSpPr>
        <p:spPr>
          <a:xfrm>
            <a:off x="571500" y="1397000"/>
            <a:ext cx="4191000" cy="2032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0CA351-1808-B201-95C2-A67FC3B7F48C}"/>
              </a:ext>
            </a:extLst>
          </p:cNvPr>
          <p:cNvSpPr/>
          <p:nvPr/>
        </p:nvSpPr>
        <p:spPr>
          <a:xfrm>
            <a:off x="4483100" y="1651000"/>
            <a:ext cx="279400" cy="203200"/>
          </a:xfrm>
          <a:prstGeom prst="rect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EFF52E-2C07-2057-889F-B81BEA05FBA6}"/>
              </a:ext>
            </a:extLst>
          </p:cNvPr>
          <p:cNvSpPr txBox="1"/>
          <p:nvPr/>
        </p:nvSpPr>
        <p:spPr>
          <a:xfrm>
            <a:off x="622300" y="1409700"/>
            <a:ext cx="55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9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 د</a:t>
            </a:r>
            <a:endParaRPr lang="en-US" sz="95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5F1FA-41E7-C898-2801-E1F847EA927B}"/>
              </a:ext>
            </a:extLst>
          </p:cNvPr>
          <p:cNvSpPr txBox="1"/>
          <p:nvPr/>
        </p:nvSpPr>
        <p:spPr>
          <a:xfrm>
            <a:off x="3873500" y="1663700"/>
            <a:ext cx="55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950" b="1">
                <a:solidFill>
                  <a:srgbClr val="B88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د</a:t>
            </a:r>
            <a:endParaRPr lang="en-US" sz="950" b="1">
              <a:solidFill>
                <a:srgbClr val="B88A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9B021-B8F2-4A64-B6D2-768844F3E932}"/>
              </a:ext>
            </a:extLst>
          </p:cNvPr>
          <p:cNvSpPr txBox="1"/>
          <p:nvPr/>
        </p:nvSpPr>
        <p:spPr>
          <a:xfrm>
            <a:off x="4864100" y="22606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قوالب عرض + فلاتر</a:t>
            </a:r>
            <a:endParaRPr lang="en-US" sz="11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11AFA0-2F55-0B16-0995-EB37DFA162E4}"/>
              </a:ext>
            </a:extLst>
          </p:cNvPr>
          <p:cNvSpPr/>
          <p:nvPr/>
        </p:nvSpPr>
        <p:spPr>
          <a:xfrm>
            <a:off x="3644900" y="2184400"/>
            <a:ext cx="1117600" cy="2032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CB79C-21E6-CD35-0464-B0167654F8EC}"/>
              </a:ext>
            </a:extLst>
          </p:cNvPr>
          <p:cNvSpPr/>
          <p:nvPr/>
        </p:nvSpPr>
        <p:spPr>
          <a:xfrm>
            <a:off x="4673600" y="2438400"/>
            <a:ext cx="88900" cy="203200"/>
          </a:xfrm>
          <a:prstGeom prst="rect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EF4C8-559B-B353-8F04-63363F9EC7B5}"/>
              </a:ext>
            </a:extLst>
          </p:cNvPr>
          <p:cNvSpPr txBox="1"/>
          <p:nvPr/>
        </p:nvSpPr>
        <p:spPr>
          <a:xfrm>
            <a:off x="3695700" y="2197100"/>
            <a:ext cx="55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9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 د</a:t>
            </a:r>
            <a:endParaRPr lang="en-US" sz="95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6DE1E-DA26-8CBD-F575-5400F76CD129}"/>
              </a:ext>
            </a:extLst>
          </p:cNvPr>
          <p:cNvSpPr txBox="1"/>
          <p:nvPr/>
        </p:nvSpPr>
        <p:spPr>
          <a:xfrm>
            <a:off x="4064000" y="2451100"/>
            <a:ext cx="55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950" b="1">
                <a:solidFill>
                  <a:srgbClr val="B88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د</a:t>
            </a:r>
            <a:endParaRPr lang="en-US" sz="950" b="1">
              <a:solidFill>
                <a:srgbClr val="B88A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642B88-D48D-1575-B4E9-C35875C4A25F}"/>
              </a:ext>
            </a:extLst>
          </p:cNvPr>
          <p:cNvSpPr txBox="1"/>
          <p:nvPr/>
        </p:nvSpPr>
        <p:spPr>
          <a:xfrm>
            <a:off x="4864100" y="30480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جداول كميات</a:t>
            </a:r>
            <a:endParaRPr lang="en-US" sz="11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222B43-FF23-0189-EF9E-2CC88423B1BC}"/>
              </a:ext>
            </a:extLst>
          </p:cNvPr>
          <p:cNvSpPr/>
          <p:nvPr/>
        </p:nvSpPr>
        <p:spPr>
          <a:xfrm>
            <a:off x="3924300" y="2971800"/>
            <a:ext cx="838200" cy="2032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3D219-ACE3-C6CF-1453-D455AE516364}"/>
              </a:ext>
            </a:extLst>
          </p:cNvPr>
          <p:cNvSpPr/>
          <p:nvPr/>
        </p:nvSpPr>
        <p:spPr>
          <a:xfrm>
            <a:off x="4673600" y="3225800"/>
            <a:ext cx="88900" cy="203200"/>
          </a:xfrm>
          <a:prstGeom prst="rect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97693E-5000-B769-5A77-DE248FA54B1B}"/>
              </a:ext>
            </a:extLst>
          </p:cNvPr>
          <p:cNvSpPr txBox="1"/>
          <p:nvPr/>
        </p:nvSpPr>
        <p:spPr>
          <a:xfrm>
            <a:off x="3975100" y="2984500"/>
            <a:ext cx="55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9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د</a:t>
            </a:r>
            <a:endParaRPr lang="en-US" sz="95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016118-7856-34F6-9E64-034ACB61D661}"/>
              </a:ext>
            </a:extLst>
          </p:cNvPr>
          <p:cNvSpPr txBox="1"/>
          <p:nvPr/>
        </p:nvSpPr>
        <p:spPr>
          <a:xfrm>
            <a:off x="4064000" y="3238500"/>
            <a:ext cx="55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950" b="1">
                <a:solidFill>
                  <a:srgbClr val="B88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د</a:t>
            </a:r>
            <a:endParaRPr lang="en-US" sz="950" b="1">
              <a:solidFill>
                <a:srgbClr val="B88A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0F969E-9DAF-0668-0EA3-E3AAF9852D89}"/>
              </a:ext>
            </a:extLst>
          </p:cNvPr>
          <p:cNvSpPr txBox="1"/>
          <p:nvPr/>
        </p:nvSpPr>
        <p:spPr>
          <a:xfrm>
            <a:off x="4864100" y="38354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إعادة تسمية 100 فيو</a:t>
            </a:r>
            <a:endParaRPr lang="en-US" sz="11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7856D1-E2C4-7A0A-F665-78B9ED66F78C}"/>
              </a:ext>
            </a:extLst>
          </p:cNvPr>
          <p:cNvSpPr/>
          <p:nvPr/>
        </p:nvSpPr>
        <p:spPr>
          <a:xfrm>
            <a:off x="3086100" y="3759200"/>
            <a:ext cx="1676400" cy="2032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B5871C-5122-387B-F289-8946AFDA89DE}"/>
              </a:ext>
            </a:extLst>
          </p:cNvPr>
          <p:cNvSpPr/>
          <p:nvPr/>
        </p:nvSpPr>
        <p:spPr>
          <a:xfrm>
            <a:off x="4686300" y="4013200"/>
            <a:ext cx="76200" cy="203200"/>
          </a:xfrm>
          <a:prstGeom prst="rect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FFBFCB-191F-8700-A160-7C58B94D7ED0}"/>
              </a:ext>
            </a:extLst>
          </p:cNvPr>
          <p:cNvSpPr txBox="1"/>
          <p:nvPr/>
        </p:nvSpPr>
        <p:spPr>
          <a:xfrm>
            <a:off x="3136900" y="3771900"/>
            <a:ext cx="55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9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 د</a:t>
            </a:r>
            <a:endParaRPr lang="en-US" sz="95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9DA7EE-98DF-D297-3440-DAD22E7F3277}"/>
              </a:ext>
            </a:extLst>
          </p:cNvPr>
          <p:cNvSpPr txBox="1"/>
          <p:nvPr/>
        </p:nvSpPr>
        <p:spPr>
          <a:xfrm>
            <a:off x="4076700" y="4025900"/>
            <a:ext cx="55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950" b="1">
                <a:solidFill>
                  <a:srgbClr val="B88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د</a:t>
            </a:r>
            <a:endParaRPr lang="en-US" sz="950" b="1">
              <a:solidFill>
                <a:srgbClr val="B88A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4CC553-887C-B756-51CB-2D4727C99309}"/>
              </a:ext>
            </a:extLst>
          </p:cNvPr>
          <p:cNvSpPr txBox="1"/>
          <p:nvPr/>
        </p:nvSpPr>
        <p:spPr>
          <a:xfrm>
            <a:off x="4864100" y="46228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استعلامات وفحص النموذج</a:t>
            </a:r>
            <a:endParaRPr lang="en-US" sz="11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C95800-CCC7-BA7B-2B05-2D270AF1D271}"/>
              </a:ext>
            </a:extLst>
          </p:cNvPr>
          <p:cNvSpPr/>
          <p:nvPr/>
        </p:nvSpPr>
        <p:spPr>
          <a:xfrm>
            <a:off x="4064000" y="4546600"/>
            <a:ext cx="698500" cy="2032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D9F065-2D14-27A8-546B-4CBBDD78A624}"/>
              </a:ext>
            </a:extLst>
          </p:cNvPr>
          <p:cNvSpPr/>
          <p:nvPr/>
        </p:nvSpPr>
        <p:spPr>
          <a:xfrm>
            <a:off x="4686300" y="4800600"/>
            <a:ext cx="76200" cy="203200"/>
          </a:xfrm>
          <a:prstGeom prst="rect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25209B-FCD4-9B39-D28E-52DBF52CD900}"/>
              </a:ext>
            </a:extLst>
          </p:cNvPr>
          <p:cNvSpPr txBox="1"/>
          <p:nvPr/>
        </p:nvSpPr>
        <p:spPr>
          <a:xfrm>
            <a:off x="4114800" y="4559300"/>
            <a:ext cx="55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9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 د</a:t>
            </a:r>
            <a:endParaRPr lang="en-US" sz="95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02C8AA-66AE-C845-0F19-1F311985DD4B}"/>
              </a:ext>
            </a:extLst>
          </p:cNvPr>
          <p:cNvSpPr txBox="1"/>
          <p:nvPr/>
        </p:nvSpPr>
        <p:spPr>
          <a:xfrm>
            <a:off x="4076700" y="4813300"/>
            <a:ext cx="55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950" b="1">
                <a:solidFill>
                  <a:srgbClr val="B88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د</a:t>
            </a:r>
            <a:endParaRPr lang="en-US" sz="950" b="1">
              <a:solidFill>
                <a:srgbClr val="B88A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099B5F-F96F-BA17-A216-664885D087B2}"/>
              </a:ext>
            </a:extLst>
          </p:cNvPr>
          <p:cNvSpPr/>
          <p:nvPr/>
        </p:nvSpPr>
        <p:spPr>
          <a:xfrm>
            <a:off x="4584700" y="5359400"/>
            <a:ext cx="177800" cy="1778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6AE15A-ADD3-1C87-5DED-58DC27192399}"/>
              </a:ext>
            </a:extLst>
          </p:cNvPr>
          <p:cNvSpPr txBox="1"/>
          <p:nvPr/>
        </p:nvSpPr>
        <p:spPr>
          <a:xfrm>
            <a:off x="3238500" y="53340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0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يدويًا (بالدقائق)</a:t>
            </a:r>
            <a:endParaRPr lang="en-US" sz="1100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DFDC9A-751C-8C80-8D40-FB4BBB3E1F26}"/>
              </a:ext>
            </a:extLst>
          </p:cNvPr>
          <p:cNvSpPr/>
          <p:nvPr/>
        </p:nvSpPr>
        <p:spPr>
          <a:xfrm>
            <a:off x="2730500" y="5359400"/>
            <a:ext cx="177800" cy="177800"/>
          </a:xfrm>
          <a:prstGeom prst="rect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C7D51A-6B14-D698-8177-75461D9A4AB6}"/>
              </a:ext>
            </a:extLst>
          </p:cNvPr>
          <p:cNvSpPr txBox="1"/>
          <p:nvPr/>
        </p:nvSpPr>
        <p:spPr>
          <a:xfrm>
            <a:off x="1358900" y="5334000"/>
            <a:ext cx="1295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0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بمساعد </a:t>
            </a:r>
            <a:r>
              <a:rPr lang="en-US" sz="110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ECB563F-A02E-41CB-8E83-6B873E3CCC30}"/>
              </a:ext>
            </a:extLst>
          </p:cNvPr>
          <p:cNvSpPr/>
          <p:nvPr/>
        </p:nvSpPr>
        <p:spPr>
          <a:xfrm>
            <a:off x="7747000" y="1371600"/>
            <a:ext cx="3873500" cy="1270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09A405-C6A9-ADB8-9F49-EF656302AF84}"/>
              </a:ext>
            </a:extLst>
          </p:cNvPr>
          <p:cNvSpPr txBox="1"/>
          <p:nvPr/>
        </p:nvSpPr>
        <p:spPr>
          <a:xfrm>
            <a:off x="7899400" y="1498600"/>
            <a:ext cx="3556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2600" b="1">
                <a:solidFill>
                  <a:srgbClr val="E8B3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40–60%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BB267E-CEBF-1845-D415-234B8E3FB998}"/>
              </a:ext>
            </a:extLst>
          </p:cNvPr>
          <p:cNvSpPr txBox="1"/>
          <p:nvPr/>
        </p:nvSpPr>
        <p:spPr>
          <a:xfrm>
            <a:off x="7899400" y="2057400"/>
            <a:ext cx="3556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من وقت أعمال التوثيق المتكررة يمكن توفيره</a:t>
            </a:r>
            <a:endParaRPr lang="en-US" sz="1250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AB1CB9B-395E-2F7C-DD9A-74D824831482}"/>
              </a:ext>
            </a:extLst>
          </p:cNvPr>
          <p:cNvSpPr/>
          <p:nvPr/>
        </p:nvSpPr>
        <p:spPr>
          <a:xfrm>
            <a:off x="7747000" y="2870200"/>
            <a:ext cx="3873500" cy="1270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D322CE-AD0F-3755-B0AD-15D32896582F}"/>
              </a:ext>
            </a:extLst>
          </p:cNvPr>
          <p:cNvSpPr txBox="1"/>
          <p:nvPr/>
        </p:nvSpPr>
        <p:spPr>
          <a:xfrm>
            <a:off x="7899400" y="2997200"/>
            <a:ext cx="3556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6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إلى 6 ساعات</a:t>
            </a:r>
            <a:endParaRPr lang="en-US" sz="26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FBB7E9-C562-7D96-7188-93495F56B5B3}"/>
              </a:ext>
            </a:extLst>
          </p:cNvPr>
          <p:cNvSpPr txBox="1"/>
          <p:nvPr/>
        </p:nvSpPr>
        <p:spPr>
          <a:xfrm>
            <a:off x="7899400" y="3556000"/>
            <a:ext cx="3556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توفير تقديري لكل مهندس أسبوعيًا</a:t>
            </a:r>
            <a:endParaRPr lang="en-US" sz="1250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9008EF6-02D2-2970-DA63-33830F978196}"/>
              </a:ext>
            </a:extLst>
          </p:cNvPr>
          <p:cNvSpPr/>
          <p:nvPr/>
        </p:nvSpPr>
        <p:spPr>
          <a:xfrm>
            <a:off x="7747000" y="4368800"/>
            <a:ext cx="3873500" cy="1270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65F216-3E43-B571-928C-E9BD19637F18}"/>
              </a:ext>
            </a:extLst>
          </p:cNvPr>
          <p:cNvSpPr txBox="1"/>
          <p:nvPr/>
        </p:nvSpPr>
        <p:spPr>
          <a:xfrm>
            <a:off x="7899400" y="4495800"/>
            <a:ext cx="3556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600" b="1">
                <a:solidFill>
                  <a:srgbClr val="1E8E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 20 مهندسًا</a:t>
            </a:r>
            <a:endParaRPr lang="en-US" sz="2600" b="1">
              <a:solidFill>
                <a:srgbClr val="1E8E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DB0257-D927-022F-A058-257B272A9DC6}"/>
              </a:ext>
            </a:extLst>
          </p:cNvPr>
          <p:cNvSpPr txBox="1"/>
          <p:nvPr/>
        </p:nvSpPr>
        <p:spPr>
          <a:xfrm>
            <a:off x="7899400" y="5054600"/>
            <a:ext cx="3556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أسابيع عمل كاملة تُستعاد كل شهر</a:t>
            </a:r>
            <a:endParaRPr lang="en-US" sz="1250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AF76E0-B406-8A64-0E25-743F16DD5132}"/>
              </a:ext>
            </a:extLst>
          </p:cNvPr>
          <p:cNvSpPr txBox="1"/>
          <p:nvPr/>
        </p:nvSpPr>
        <p:spPr>
          <a:xfrm>
            <a:off x="546100" y="6400800"/>
            <a:ext cx="11099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9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الأزمنة تقديرات مبنية على تجارب فعلية بالأداة ومتوسطات معتادة للعمل اليدوي — تختلف حسب المشروع.</a:t>
            </a:r>
            <a:endParaRPr lang="en-US" sz="9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10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7EAD5C-B983-F561-8614-3E10C36B9F46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ما الذي بنيناه بالفعل — </a:t>
            </a:r>
            <a:r>
              <a:rPr lang="en-US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AICon </a:t>
            </a:r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اليوم</a:t>
            </a:r>
            <a:endParaRPr lang="en-US" sz="29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EC2155B-5CF4-CFDD-5F39-7C301C5D8CDA}"/>
              </a:ext>
            </a:extLst>
          </p:cNvPr>
          <p:cNvSpPr/>
          <p:nvPr/>
        </p:nvSpPr>
        <p:spPr>
          <a:xfrm>
            <a:off x="10985500" y="1244600"/>
            <a:ext cx="571500" cy="5715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E166B9-1CFD-256B-5CC2-D02F157C6D31}"/>
              </a:ext>
            </a:extLst>
          </p:cNvPr>
          <p:cNvSpPr txBox="1"/>
          <p:nvPr/>
        </p:nvSpPr>
        <p:spPr>
          <a:xfrm>
            <a:off x="10985500" y="13131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9E94E-EAA4-035B-442C-B4148A2DA11C}"/>
              </a:ext>
            </a:extLst>
          </p:cNvPr>
          <p:cNvSpPr txBox="1"/>
          <p:nvPr/>
        </p:nvSpPr>
        <p:spPr>
          <a:xfrm>
            <a:off x="635000" y="11938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68 أداة تغطي دورة العمل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F06B4-4BE1-8A6C-286E-2C0D4BBEE132}"/>
              </a:ext>
            </a:extLst>
          </p:cNvPr>
          <p:cNvSpPr txBox="1"/>
          <p:nvPr/>
        </p:nvSpPr>
        <p:spPr>
          <a:xfrm>
            <a:off x="635000" y="15494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إنشاء وتعديل واستعلام وتوثيق وتصدير — داخل لوحة محادثة مدمجة في شاشة 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Revit.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5F1F46-1B1A-4AE1-0BF0-9956DEE881AC}"/>
              </a:ext>
            </a:extLst>
          </p:cNvPr>
          <p:cNvSpPr/>
          <p:nvPr/>
        </p:nvSpPr>
        <p:spPr>
          <a:xfrm>
            <a:off x="10985500" y="2286000"/>
            <a:ext cx="571500" cy="571500"/>
          </a:xfrm>
          <a:prstGeom prst="ellipse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F89C75-3275-0843-8ED2-E6A1DFC9986C}"/>
              </a:ext>
            </a:extLst>
          </p:cNvPr>
          <p:cNvSpPr txBox="1"/>
          <p:nvPr/>
        </p:nvSpPr>
        <p:spPr>
          <a:xfrm>
            <a:off x="10985500" y="23545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⚡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3B294A-2446-F559-0D16-CF953EAEEC29}"/>
              </a:ext>
            </a:extLst>
          </p:cNvPr>
          <p:cNvSpPr txBox="1"/>
          <p:nvPr/>
        </p:nvSpPr>
        <p:spPr>
          <a:xfrm>
            <a:off x="635000" y="22352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نماذج ذكاء قابلة للتبديل بزر واحد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04FB76-6D3E-9A5C-D039-949620807644}"/>
              </a:ext>
            </a:extLst>
          </p:cNvPr>
          <p:cNvSpPr txBox="1"/>
          <p:nvPr/>
        </p:nvSpPr>
        <p:spPr>
          <a:xfrm>
            <a:off x="635000" y="25908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Gemini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ونموذج محلي و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—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نفس الأدوات تعمل مع أي نموذج.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1332D6-C1DF-E05F-B933-539CA55912DF}"/>
              </a:ext>
            </a:extLst>
          </p:cNvPr>
          <p:cNvSpPr/>
          <p:nvPr/>
        </p:nvSpPr>
        <p:spPr>
          <a:xfrm>
            <a:off x="10985500" y="3327400"/>
            <a:ext cx="571500" cy="571500"/>
          </a:xfrm>
          <a:prstGeom prst="ellipse">
            <a:avLst/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8DB8BA-D7FB-96DE-8CCE-BE19E51930C3}"/>
              </a:ext>
            </a:extLst>
          </p:cNvPr>
          <p:cNvSpPr txBox="1"/>
          <p:nvPr/>
        </p:nvSpPr>
        <p:spPr>
          <a:xfrm>
            <a:off x="10985500" y="33959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📊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EB60DB-C9EA-9CA4-D0A1-87CE5CB2E260}"/>
              </a:ext>
            </a:extLst>
          </p:cNvPr>
          <p:cNvSpPr txBox="1"/>
          <p:nvPr/>
        </p:nvSpPr>
        <p:spPr>
          <a:xfrm>
            <a:off x="635000" y="32766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مرفقات ورؤية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417420-7737-ED49-FD7A-DF633114635D}"/>
              </a:ext>
            </a:extLst>
          </p:cNvPr>
          <p:cNvSpPr txBox="1"/>
          <p:nvPr/>
        </p:nvSpPr>
        <p:spPr>
          <a:xfrm>
            <a:off x="635000" y="36322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إرفاق 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وصور في المحادثة + قدرة النموذج على رؤية الفيو وتحليله.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849DDF7-9CC4-43D7-C5BE-DE022F547C52}"/>
              </a:ext>
            </a:extLst>
          </p:cNvPr>
          <p:cNvSpPr/>
          <p:nvPr/>
        </p:nvSpPr>
        <p:spPr>
          <a:xfrm>
            <a:off x="10985500" y="4368800"/>
            <a:ext cx="571500" cy="571500"/>
          </a:xfrm>
          <a:prstGeom prst="ellipse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3F4D81-164C-0A79-9BAC-FB383C9EA5DE}"/>
              </a:ext>
            </a:extLst>
          </p:cNvPr>
          <p:cNvSpPr txBox="1"/>
          <p:nvPr/>
        </p:nvSpPr>
        <p:spPr>
          <a:xfrm>
            <a:off x="10985500" y="44373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🛡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9550D9-96E7-91B7-6866-C6A5E43CD840}"/>
              </a:ext>
            </a:extLst>
          </p:cNvPr>
          <p:cNvSpPr txBox="1"/>
          <p:nvPr/>
        </p:nvSpPr>
        <p:spPr>
          <a:xfrm>
            <a:off x="635000" y="43180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أمان مدمج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FCCBC0-A2E9-CFCA-AAF8-60B5BCD5E301}"/>
              </a:ext>
            </a:extLst>
          </p:cNvPr>
          <p:cNvSpPr txBox="1"/>
          <p:nvPr/>
        </p:nvSpPr>
        <p:spPr>
          <a:xfrm>
            <a:off x="635000" y="46736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وضع قراءة فقط، تأكيد قبل الحذف، زر تراجع، وكل تعديل قابل للتراجع في 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Revit.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CC67041-9075-4B57-8D81-9B7FD6C5038C}"/>
              </a:ext>
            </a:extLst>
          </p:cNvPr>
          <p:cNvSpPr/>
          <p:nvPr/>
        </p:nvSpPr>
        <p:spPr>
          <a:xfrm>
            <a:off x="10985500" y="5410200"/>
            <a:ext cx="571500" cy="571500"/>
          </a:xfrm>
          <a:prstGeom prst="ellipse">
            <a:avLst/>
          </a:prstGeom>
          <a:solidFill>
            <a:srgbClr val="8A4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C1912-C1E5-6238-D470-C40BCC769FC0}"/>
              </a:ext>
            </a:extLst>
          </p:cNvPr>
          <p:cNvSpPr txBox="1"/>
          <p:nvPr/>
        </p:nvSpPr>
        <p:spPr>
          <a:xfrm>
            <a:off x="10985500" y="54787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E67CF8-EF72-D79A-CC10-CD5718BB6A3A}"/>
              </a:ext>
            </a:extLst>
          </p:cNvPr>
          <p:cNvSpPr txBox="1"/>
          <p:nvPr/>
        </p:nvSpPr>
        <p:spPr>
          <a:xfrm>
            <a:off x="635000" y="53594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جاهز للنشر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CD02A0-9E7E-79FF-958C-3CF3BD054753}"/>
              </a:ext>
            </a:extLst>
          </p:cNvPr>
          <p:cNvSpPr txBox="1"/>
          <p:nvPr/>
        </p:nvSpPr>
        <p:spPr>
          <a:xfrm>
            <a:off x="635000" y="57150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مثبّت بنقرة واحدة على </a:t>
            </a:r>
            <a:r>
              <a:rPr lang="en-US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Revit 2022–2024 — </a:t>
            </a:r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بدون أي متطلبات على أجهزة المهندسين.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705061-CF4F-80C8-3F3F-34D2AD1D75E0}"/>
              </a:ext>
            </a:extLst>
          </p:cNvPr>
          <p:cNvSpPr txBox="1"/>
          <p:nvPr/>
        </p:nvSpPr>
        <p:spPr>
          <a:xfrm>
            <a:off x="546100" y="6400800"/>
            <a:ext cx="11099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9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طُوّرت الأداة داخليًا بالكامل واختُبرت على مشروع حقيقي — لا اشتراكات ولا تراخيص خارجية.</a:t>
            </a:r>
            <a:endParaRPr lang="en-US" sz="9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95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464853-5B86-CA9A-955D-27E5DA42D8A8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كيف تعمل المنظومة؟</a:t>
            </a:r>
            <a:endParaRPr lang="en-US" sz="29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8FCB80-E9EA-DD89-1B03-06BD9DF6B101}"/>
              </a:ext>
            </a:extLst>
          </p:cNvPr>
          <p:cNvSpPr/>
          <p:nvPr/>
        </p:nvSpPr>
        <p:spPr>
          <a:xfrm>
            <a:off x="9080500" y="1905000"/>
            <a:ext cx="2540000" cy="13970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D5735-7E60-E357-13C9-0C433907D151}"/>
              </a:ext>
            </a:extLst>
          </p:cNvPr>
          <p:cNvSpPr txBox="1"/>
          <p:nvPr/>
        </p:nvSpPr>
        <p:spPr>
          <a:xfrm>
            <a:off x="9080500" y="2006600"/>
            <a:ext cx="254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E0232-5B02-8B6D-E82D-7752A0B77FAC}"/>
              </a:ext>
            </a:extLst>
          </p:cNvPr>
          <p:cNvSpPr txBox="1"/>
          <p:nvPr/>
        </p:nvSpPr>
        <p:spPr>
          <a:xfrm>
            <a:off x="9080500" y="24638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Autodesk Revit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9BF78-51F3-A14A-D7B2-3B86B2A2495D}"/>
              </a:ext>
            </a:extLst>
          </p:cNvPr>
          <p:cNvSpPr txBox="1"/>
          <p:nvPr/>
        </p:nvSpPr>
        <p:spPr>
          <a:xfrm>
            <a:off x="9080500" y="2844800"/>
            <a:ext cx="254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0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نموذج المشروع المفتوح</a:t>
            </a:r>
            <a:endParaRPr lang="en-US" sz="1050">
              <a:solidFill>
                <a:srgbClr val="CADC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743C08-114A-B7BA-A528-586A95C0F093}"/>
              </a:ext>
            </a:extLst>
          </p:cNvPr>
          <p:cNvSpPr/>
          <p:nvPr/>
        </p:nvSpPr>
        <p:spPr>
          <a:xfrm>
            <a:off x="5842000" y="1905000"/>
            <a:ext cx="2540000" cy="1397000"/>
          </a:xfrm>
          <a:prstGeom prst="roundRect">
            <a:avLst>
              <a:gd name="adj" fmla="val 10000"/>
            </a:avLst>
          </a:prstGeom>
          <a:solidFill>
            <a:srgbClr val="2C5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2968B-2C94-8A0E-47D7-259B246C6B72}"/>
              </a:ext>
            </a:extLst>
          </p:cNvPr>
          <p:cNvSpPr txBox="1"/>
          <p:nvPr/>
        </p:nvSpPr>
        <p:spPr>
          <a:xfrm>
            <a:off x="5842000" y="2006600"/>
            <a:ext cx="254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21D38-862E-2062-2DB9-3C33E4019B84}"/>
              </a:ext>
            </a:extLst>
          </p:cNvPr>
          <p:cNvSpPr txBox="1"/>
          <p:nvPr/>
        </p:nvSpPr>
        <p:spPr>
          <a:xfrm>
            <a:off x="5842000" y="24638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إضافة </a:t>
            </a:r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1F4BE-2C6C-262F-BF0B-3BA73197CE91}"/>
              </a:ext>
            </a:extLst>
          </p:cNvPr>
          <p:cNvSpPr txBox="1"/>
          <p:nvPr/>
        </p:nvSpPr>
        <p:spPr>
          <a:xfrm>
            <a:off x="5842000" y="2844800"/>
            <a:ext cx="254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0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لوحة المحادثة + 68 أداة</a:t>
            </a:r>
            <a:endParaRPr lang="en-US" sz="1050">
              <a:solidFill>
                <a:srgbClr val="CADC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B78EA9-4FC0-5903-ED50-D5A1F039FE6D}"/>
              </a:ext>
            </a:extLst>
          </p:cNvPr>
          <p:cNvSpPr/>
          <p:nvPr/>
        </p:nvSpPr>
        <p:spPr>
          <a:xfrm>
            <a:off x="2603500" y="1905000"/>
            <a:ext cx="2540000" cy="1397000"/>
          </a:xfrm>
          <a:prstGeom prst="roundRect">
            <a:avLst>
              <a:gd name="adj" fmla="val 10000"/>
            </a:avLst>
          </a:prstGeom>
          <a:solidFill>
            <a:srgbClr val="C892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60F34B-4808-BA97-C5B0-E61462E7112A}"/>
              </a:ext>
            </a:extLst>
          </p:cNvPr>
          <p:cNvSpPr txBox="1"/>
          <p:nvPr/>
        </p:nvSpPr>
        <p:spPr>
          <a:xfrm>
            <a:off x="2603500" y="2006600"/>
            <a:ext cx="254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E4E15-3D99-B665-9EB9-FFD9CEFDE402}"/>
              </a:ext>
            </a:extLst>
          </p:cNvPr>
          <p:cNvSpPr txBox="1"/>
          <p:nvPr/>
        </p:nvSpPr>
        <p:spPr>
          <a:xfrm>
            <a:off x="2603500" y="24638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الوكيل الذكي</a:t>
            </a:r>
            <a:endParaRPr lang="en-US" sz="15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A80913-9F3C-5F3F-0C31-51774AB710F1}"/>
              </a:ext>
            </a:extLst>
          </p:cNvPr>
          <p:cNvSpPr txBox="1"/>
          <p:nvPr/>
        </p:nvSpPr>
        <p:spPr>
          <a:xfrm>
            <a:off x="2603500" y="2844800"/>
            <a:ext cx="254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0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يفهم الطلب ويدير التنفيذ</a:t>
            </a:r>
            <a:endParaRPr lang="en-US" sz="1050">
              <a:solidFill>
                <a:srgbClr val="CADC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641C51BC-9E88-1DA9-FE79-5353B2630E49}"/>
              </a:ext>
            </a:extLst>
          </p:cNvPr>
          <p:cNvSpPr/>
          <p:nvPr/>
        </p:nvSpPr>
        <p:spPr>
          <a:xfrm>
            <a:off x="8445500" y="2463800"/>
            <a:ext cx="571500" cy="279400"/>
          </a:xfrm>
          <a:prstGeom prst="leftArrow">
            <a:avLst/>
          </a:prstGeom>
          <a:solidFill>
            <a:srgbClr val="9AA7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AAABD0D5-B4BE-1713-32B5-53EED0B8D001}"/>
              </a:ext>
            </a:extLst>
          </p:cNvPr>
          <p:cNvSpPr/>
          <p:nvPr/>
        </p:nvSpPr>
        <p:spPr>
          <a:xfrm>
            <a:off x="5207000" y="2463800"/>
            <a:ext cx="571500" cy="279400"/>
          </a:xfrm>
          <a:prstGeom prst="leftArrow">
            <a:avLst/>
          </a:prstGeom>
          <a:solidFill>
            <a:srgbClr val="9AA7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59900F-BD43-7F66-0E08-A8E9C5707A9C}"/>
              </a:ext>
            </a:extLst>
          </p:cNvPr>
          <p:cNvSpPr txBox="1"/>
          <p:nvPr/>
        </p:nvSpPr>
        <p:spPr>
          <a:xfrm>
            <a:off x="571500" y="3810000"/>
            <a:ext cx="1104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4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النموذج قابل للتبديل — نفس الأدوات مع أي عقل:</a:t>
            </a:r>
            <a:endParaRPr lang="en-US" sz="14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291417-FC8D-7D04-7FD4-DB234741FA1F}"/>
              </a:ext>
            </a:extLst>
          </p:cNvPr>
          <p:cNvSpPr/>
          <p:nvPr/>
        </p:nvSpPr>
        <p:spPr>
          <a:xfrm>
            <a:off x="8128000" y="4254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FA1728-1EA0-42E6-5B16-8503D617D5BA}"/>
              </a:ext>
            </a:extLst>
          </p:cNvPr>
          <p:cNvSpPr/>
          <p:nvPr/>
        </p:nvSpPr>
        <p:spPr>
          <a:xfrm>
            <a:off x="11239500" y="4381500"/>
            <a:ext cx="215900" cy="215900"/>
          </a:xfrm>
          <a:prstGeom prst="ellipse">
            <a:avLst/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C495B5-406F-E682-E516-CD73C4FCF162}"/>
              </a:ext>
            </a:extLst>
          </p:cNvPr>
          <p:cNvSpPr txBox="1"/>
          <p:nvPr/>
        </p:nvSpPr>
        <p:spPr>
          <a:xfrm>
            <a:off x="8280400" y="4343400"/>
            <a:ext cx="2921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نموذج محلي على سيرفر الشركة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EAEC47-3171-2521-9EF5-41423F353E2C}"/>
              </a:ext>
            </a:extLst>
          </p:cNvPr>
          <p:cNvSpPr txBox="1"/>
          <p:nvPr/>
        </p:nvSpPr>
        <p:spPr>
          <a:xfrm>
            <a:off x="8280400" y="4749800"/>
            <a:ext cx="31623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0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الخصوصية الكاملة — التوصية</a:t>
            </a:r>
            <a:endParaRPr lang="en-US" sz="110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9A13C8C-04D6-8831-76BC-14FC751E42BB}"/>
              </a:ext>
            </a:extLst>
          </p:cNvPr>
          <p:cNvSpPr/>
          <p:nvPr/>
        </p:nvSpPr>
        <p:spPr>
          <a:xfrm>
            <a:off x="4445000" y="4254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1B930E1-8961-7284-1D89-31758A583648}"/>
              </a:ext>
            </a:extLst>
          </p:cNvPr>
          <p:cNvSpPr/>
          <p:nvPr/>
        </p:nvSpPr>
        <p:spPr>
          <a:xfrm>
            <a:off x="7556500" y="4381500"/>
            <a:ext cx="215900" cy="215900"/>
          </a:xfrm>
          <a:prstGeom prst="ellipse">
            <a:avLst/>
          </a:prstGeom>
          <a:solidFill>
            <a:srgbClr val="2C5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50629F-B576-87CA-61B5-DB85F0D99227}"/>
              </a:ext>
            </a:extLst>
          </p:cNvPr>
          <p:cNvSpPr txBox="1"/>
          <p:nvPr/>
        </p:nvSpPr>
        <p:spPr>
          <a:xfrm>
            <a:off x="4597400" y="4343400"/>
            <a:ext cx="2921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 </a:t>
            </a:r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سحابي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3C679F-8D64-86EB-F161-F7A37925FC77}"/>
              </a:ext>
            </a:extLst>
          </p:cNvPr>
          <p:cNvSpPr txBox="1"/>
          <p:nvPr/>
        </p:nvSpPr>
        <p:spPr>
          <a:xfrm>
            <a:off x="4597400" y="4749800"/>
            <a:ext cx="31623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0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احتياطي رخيص للمهام المعقدة</a:t>
            </a:r>
            <a:endParaRPr lang="en-US" sz="110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06232F3-D60E-C4EB-6AA5-23E1135EB138}"/>
              </a:ext>
            </a:extLst>
          </p:cNvPr>
          <p:cNvSpPr/>
          <p:nvPr/>
        </p:nvSpPr>
        <p:spPr>
          <a:xfrm>
            <a:off x="762000" y="4254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C340AEB-967C-B3B1-21A5-C6DFED5976CD}"/>
              </a:ext>
            </a:extLst>
          </p:cNvPr>
          <p:cNvSpPr/>
          <p:nvPr/>
        </p:nvSpPr>
        <p:spPr>
          <a:xfrm>
            <a:off x="3873500" y="4381500"/>
            <a:ext cx="215900" cy="215900"/>
          </a:xfrm>
          <a:prstGeom prst="ellipse">
            <a:avLst/>
          </a:prstGeom>
          <a:solidFill>
            <a:srgbClr val="5A6B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217DA5-F8CC-027C-C0CA-A115B062349E}"/>
              </a:ext>
            </a:extLst>
          </p:cNvPr>
          <p:cNvSpPr txBox="1"/>
          <p:nvPr/>
        </p:nvSpPr>
        <p:spPr>
          <a:xfrm>
            <a:off x="914400" y="4343400"/>
            <a:ext cx="2921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Gemini / Claude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09674A-52DD-9F77-DE63-6F76D22DFF66}"/>
              </a:ext>
            </a:extLst>
          </p:cNvPr>
          <p:cNvSpPr txBox="1"/>
          <p:nvPr/>
        </p:nvSpPr>
        <p:spPr>
          <a:xfrm>
            <a:off x="914400" y="4749800"/>
            <a:ext cx="31623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0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خيارات إضافية جاهزة</a:t>
            </a:r>
            <a:endParaRPr lang="en-US" sz="110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772D5A-0147-FA25-B1AA-7CD62EF8C06F}"/>
              </a:ext>
            </a:extLst>
          </p:cNvPr>
          <p:cNvSpPr txBox="1"/>
          <p:nvPr/>
        </p:nvSpPr>
        <p:spPr>
          <a:xfrm>
            <a:off x="546100" y="6400800"/>
            <a:ext cx="11099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9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تغيير النموذج لا يغيّر شيئًا في الأداة أو طريقة عمل المهندسين — قرار تشغيلي بحت.</a:t>
            </a:r>
            <a:endParaRPr lang="en-US" sz="9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33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E4773A-1093-CAED-CC46-A0D6A214A1AA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لماذا نموذج ذكاء داخل شبكة الشركة؟</a:t>
            </a:r>
            <a:endParaRPr lang="en-US" sz="29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1BA2926-DBF4-A753-F6E6-C72810367619}"/>
              </a:ext>
            </a:extLst>
          </p:cNvPr>
          <p:cNvSpPr/>
          <p:nvPr/>
        </p:nvSpPr>
        <p:spPr>
          <a:xfrm>
            <a:off x="10985500" y="1397000"/>
            <a:ext cx="571500" cy="5715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2B394-0DB3-0E6F-8368-0D90D93EF701}"/>
              </a:ext>
            </a:extLst>
          </p:cNvPr>
          <p:cNvSpPr txBox="1"/>
          <p:nvPr/>
        </p:nvSpPr>
        <p:spPr>
          <a:xfrm>
            <a:off x="10985500" y="14655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21066-A1C9-B593-6273-4ADB35AF0552}"/>
              </a:ext>
            </a:extLst>
          </p:cNvPr>
          <p:cNvSpPr txBox="1"/>
          <p:nvPr/>
        </p:nvSpPr>
        <p:spPr>
          <a:xfrm>
            <a:off x="635000" y="13462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خصوصية مطلقة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68961-230F-F39D-F914-D95B385F3157}"/>
              </a:ext>
            </a:extLst>
          </p:cNvPr>
          <p:cNvSpPr txBox="1"/>
          <p:nvPr/>
        </p:nvSpPr>
        <p:spPr>
          <a:xfrm>
            <a:off x="635000" y="17018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ملفات المشاريع والأسعار وبيانات العملاء لا تغادر الشبكة إطلاقًا — لا يُرسل شيء لخوادم خارجية.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0B5D2D-CB7C-A72A-A4D1-20216079AF58}"/>
              </a:ext>
            </a:extLst>
          </p:cNvPr>
          <p:cNvSpPr/>
          <p:nvPr/>
        </p:nvSpPr>
        <p:spPr>
          <a:xfrm>
            <a:off x="10985500" y="2616200"/>
            <a:ext cx="571500" cy="571500"/>
          </a:xfrm>
          <a:prstGeom prst="ellipse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B2C34-9D82-8C92-8B23-F27E1ECC8442}"/>
              </a:ext>
            </a:extLst>
          </p:cNvPr>
          <p:cNvSpPr txBox="1"/>
          <p:nvPr/>
        </p:nvSpPr>
        <p:spPr>
          <a:xfrm>
            <a:off x="10985500" y="26847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4E6567-3762-8EE1-4A92-3FF171753E45}"/>
              </a:ext>
            </a:extLst>
          </p:cNvPr>
          <p:cNvSpPr txBox="1"/>
          <p:nvPr/>
        </p:nvSpPr>
        <p:spPr>
          <a:xfrm>
            <a:off x="635000" y="25654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تكلفة تشغيل صفرية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A96D9-0EB8-657F-99A1-50581B2D3BC6}"/>
              </a:ext>
            </a:extLst>
          </p:cNvPr>
          <p:cNvSpPr txBox="1"/>
          <p:nvPr/>
        </p:nvSpPr>
        <p:spPr>
          <a:xfrm>
            <a:off x="635000" y="29210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لا اشتراكات شهرية ولا دفع لكل أمر: تكلفة الكهرباء فقط. الاستثمار مرة واحدة في الجهاز.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852378-1F5A-EB50-C6F6-4C195D2E2D78}"/>
              </a:ext>
            </a:extLst>
          </p:cNvPr>
          <p:cNvSpPr/>
          <p:nvPr/>
        </p:nvSpPr>
        <p:spPr>
          <a:xfrm>
            <a:off x="10985500" y="3835400"/>
            <a:ext cx="571500" cy="571500"/>
          </a:xfrm>
          <a:prstGeom prst="ellipse">
            <a:avLst/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A9DA41-A405-98AE-8D2B-1FAFDAFC77C0}"/>
              </a:ext>
            </a:extLst>
          </p:cNvPr>
          <p:cNvSpPr txBox="1"/>
          <p:nvPr/>
        </p:nvSpPr>
        <p:spPr>
          <a:xfrm>
            <a:off x="10985500" y="39039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39560A-9DD3-51FC-05DB-4A7EE07FDF81}"/>
              </a:ext>
            </a:extLst>
          </p:cNvPr>
          <p:cNvSpPr txBox="1"/>
          <p:nvPr/>
        </p:nvSpPr>
        <p:spPr>
          <a:xfrm>
            <a:off x="635000" y="37846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بلا حدود استخدام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44E200-E6A7-F057-AF22-D33A09B276C6}"/>
              </a:ext>
            </a:extLst>
          </p:cNvPr>
          <p:cNvSpPr txBox="1"/>
          <p:nvPr/>
        </p:nvSpPr>
        <p:spPr>
          <a:xfrm>
            <a:off x="635000" y="41402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النماذج السحابية المجانية تتوقف بعد دقائق (حتى 15 طلبًا في الدقيقة). نموذجنا يعمل طوال اليوم للجميع.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B42BE6-A5B1-81A2-A2F0-B5D0FC48F517}"/>
              </a:ext>
            </a:extLst>
          </p:cNvPr>
          <p:cNvSpPr/>
          <p:nvPr/>
        </p:nvSpPr>
        <p:spPr>
          <a:xfrm>
            <a:off x="10985500" y="5054600"/>
            <a:ext cx="571500" cy="571500"/>
          </a:xfrm>
          <a:prstGeom prst="ellipse">
            <a:avLst/>
          </a:prstGeom>
          <a:solidFill>
            <a:srgbClr val="2C5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24992-C82E-A9DD-6E29-A3526C0BD146}"/>
              </a:ext>
            </a:extLst>
          </p:cNvPr>
          <p:cNvSpPr txBox="1"/>
          <p:nvPr/>
        </p:nvSpPr>
        <p:spPr>
          <a:xfrm>
            <a:off x="10985500" y="512318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CF490-E05C-7F1E-F1A1-61C4AE32CCEF}"/>
              </a:ext>
            </a:extLst>
          </p:cNvPr>
          <p:cNvSpPr txBox="1"/>
          <p:nvPr/>
        </p:nvSpPr>
        <p:spPr>
          <a:xfrm>
            <a:off x="635000" y="5003800"/>
            <a:ext cx="10121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6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أصل تملكه الشركة</a:t>
            </a:r>
            <a:endParaRPr lang="en-US" sz="16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AD3599-6444-8E0A-DB2E-38309BDA0E3A}"/>
              </a:ext>
            </a:extLst>
          </p:cNvPr>
          <p:cNvSpPr txBox="1"/>
          <p:nvPr/>
        </p:nvSpPr>
        <p:spPr>
          <a:xfrm>
            <a:off x="635000" y="5359400"/>
            <a:ext cx="10121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الجهاز والنموذج ملك الشركة — يخدم لاحقًا استخدامات ذكاء أخرى: مستندات، مراسلات، أكواد.</a:t>
            </a:r>
            <a:endParaRPr lang="en-US" sz="12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751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8A3DD-E400-E1FD-0535-10C60A305550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مقارنة خيارات النماذج</a:t>
            </a:r>
            <a:endParaRPr lang="en-US" sz="29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23B721-7D05-2C38-7F8E-A69EA800E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95884"/>
              </p:ext>
            </p:extLst>
          </p:nvPr>
        </p:nvGraphicFramePr>
        <p:xfrm>
          <a:off x="546100" y="1270000"/>
          <a:ext cx="11099800" cy="447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375405388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095196707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830692309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210718728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275844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8143917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 rtl="1"/>
                      <a:r>
                        <a:rPr lang="ar-EG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المعيار</a:t>
                      </a:r>
                      <a:endParaRPr lang="en-US" sz="1200" b="1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Gemini
</a:t>
                      </a:r>
                      <a:r>
                        <a:rPr lang="ar-EG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سحابي مجاني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DeepSeek
</a:t>
                      </a:r>
                      <a:r>
                        <a:rPr lang="ar-EG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سحابي مدفوع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النموذج الحالي
كروت 3050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Qwen 32B
</a:t>
                      </a:r>
                      <a:r>
                        <a:rPr lang="ar-EG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مقترح 1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Llama 70B
</a:t>
                      </a:r>
                      <a:r>
                        <a:rPr lang="ar-EG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مقترح 2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89173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rtl="1"/>
                      <a:r>
                        <a:rPr lang="ar-EG" sz="11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ذكاء المهام المركبة</a:t>
                      </a:r>
                      <a:endParaRPr lang="en-US" sz="11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جيد جدًا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ممتاز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0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محدود — مهام بسيطة</a:t>
                      </a:r>
                      <a:endParaRPr lang="en-US" sz="105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جيد جدًا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ممتاز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88609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rtl="1"/>
                      <a:r>
                        <a:rPr lang="ar-EG" sz="11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الخصوصية</a:t>
                      </a:r>
                      <a:endParaRPr lang="en-US" sz="11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050" b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بيانات تُرسل خارجيًا</a:t>
                      </a:r>
                      <a:endParaRPr lang="en-US" sz="1050" b="0">
                        <a:solidFill>
                          <a:srgbClr val="C0392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050" b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بيانات تُرسل خارجيًا</a:t>
                      </a:r>
                      <a:endParaRPr lang="en-US" sz="1050" b="0">
                        <a:solidFill>
                          <a:srgbClr val="C0392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1">
                          <a:solidFill>
                            <a:srgbClr val="1E8E5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كاملة ✓</a:t>
                      </a:r>
                      <a:endParaRPr lang="en-US" sz="1100" b="1">
                        <a:solidFill>
                          <a:srgbClr val="1E8E5A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1">
                          <a:solidFill>
                            <a:srgbClr val="1E8E5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كاملة ✓</a:t>
                      </a:r>
                      <a:endParaRPr lang="en-US" sz="1100" b="1">
                        <a:solidFill>
                          <a:srgbClr val="1E8E5A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1">
                          <a:solidFill>
                            <a:srgbClr val="1E8E5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كاملة ✓</a:t>
                      </a:r>
                      <a:endParaRPr lang="en-US" sz="1100" b="1">
                        <a:solidFill>
                          <a:srgbClr val="1E8E5A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33312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rtl="1"/>
                      <a:r>
                        <a:rPr lang="ar-EG" sz="11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تكلفة لكل أمر</a:t>
                      </a:r>
                      <a:endParaRPr lang="en-US" sz="11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مجاني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0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رخيصة لكن مستمرة</a:t>
                      </a:r>
                      <a:endParaRPr lang="en-US" sz="105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صفر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صفر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صفر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3012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rtl="1"/>
                      <a:r>
                        <a:rPr lang="ar-EG" sz="11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حدود الاستخدام</a:t>
                      </a:r>
                      <a:endParaRPr lang="en-US" sz="11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050" b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حتى 15 طلبًا/دقيقة</a:t>
                      </a:r>
                      <a:endParaRPr lang="en-US" sz="1050" b="0">
                        <a:solidFill>
                          <a:srgbClr val="C0392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0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عملي بلا حدود</a:t>
                      </a:r>
                      <a:endParaRPr lang="en-US" sz="105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1E8E5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بلا حدود</a:t>
                      </a:r>
                      <a:endParaRPr lang="en-US" sz="1100" b="0">
                        <a:solidFill>
                          <a:srgbClr val="1E8E5A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1E8E5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بلا حدود</a:t>
                      </a:r>
                      <a:endParaRPr lang="en-US" sz="1100" b="0">
                        <a:solidFill>
                          <a:srgbClr val="1E8E5A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1E8E5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بلا حدود</a:t>
                      </a:r>
                      <a:endParaRPr lang="en-US" sz="1100" b="0">
                        <a:solidFill>
                          <a:srgbClr val="1E8E5A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330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rtl="1"/>
                      <a:r>
                        <a:rPr lang="ar-EG" sz="11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رؤية الصور والمخططات</a:t>
                      </a:r>
                      <a:endParaRPr lang="en-US" sz="11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0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نعم — صور و</a:t>
                      </a:r>
                      <a:r>
                        <a:rPr lang="en-US" sz="10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PDF</a:t>
                      </a: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لا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لا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نعم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نعم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54805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rtl="1"/>
                      <a:r>
                        <a:rPr lang="ar-EG" sz="11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السرعة (توكن/ثانية)</a:t>
                      </a:r>
                      <a:endParaRPr lang="en-US" sz="11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سريع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سريع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5–10</a:t>
                      </a: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25–35</a:t>
                      </a: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15–20</a:t>
                      </a: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23208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rtl="1"/>
                      <a:r>
                        <a:rPr lang="ar-EG" sz="11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التكلفة</a:t>
                      </a:r>
                      <a:endParaRPr lang="en-US" sz="11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مجاني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اشتراك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متاح الآن</a:t>
                      </a:r>
                      <a:endParaRPr lang="en-US" sz="11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0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استثمار معقول</a:t>
                      </a:r>
                      <a:endParaRPr lang="en-US" sz="105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0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استثمار أعلى</a:t>
                      </a:r>
                      <a:endParaRPr lang="en-US" sz="105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2633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3F61EF7-A182-BC90-CEC7-465205D05173}"/>
              </a:ext>
            </a:extLst>
          </p:cNvPr>
          <p:cNvSpPr txBox="1"/>
          <p:nvPr/>
        </p:nvSpPr>
        <p:spPr>
          <a:xfrm>
            <a:off x="546100" y="6400800"/>
            <a:ext cx="11099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9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النموذج الصغير على الكروت الحالية يعمل اليوم بالفعل لكنه مناسب للمهام البسيطة — الترقية تفتح المهام المركبة والرؤية.</a:t>
            </a:r>
            <a:endParaRPr lang="en-US" sz="9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957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757AA8-19CA-CDCA-19A0-4CDBC0D9C749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المقترح 1 — سيرفر ذكاء مركزي (نموذج 32</a:t>
            </a:r>
            <a:r>
              <a:rPr lang="en-US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458A27-D08D-B4DA-E70A-4738347413CB}"/>
              </a:ext>
            </a:extLst>
          </p:cNvPr>
          <p:cNvSpPr txBox="1"/>
          <p:nvPr/>
        </p:nvSpPr>
        <p:spPr>
          <a:xfrm>
            <a:off x="6350000" y="1333500"/>
            <a:ext cx="5270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5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جهاز واحد قوي في غرفة السيرفرات يخدم كل المهندسين عبر الشبكة الداخلية.</a:t>
            </a:r>
            <a:endParaRPr lang="en-US" sz="15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AB1E1-D6E5-9247-8FBC-9BB6E477E810}"/>
              </a:ext>
            </a:extLst>
          </p:cNvPr>
          <p:cNvSpPr txBox="1"/>
          <p:nvPr/>
        </p:nvSpPr>
        <p:spPr>
          <a:xfrm>
            <a:off x="6350000" y="2159000"/>
            <a:ext cx="5270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5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يشغّل نموذج </a:t>
            </a:r>
            <a:r>
              <a:rPr lang="en-US" sz="135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Qwen3 </a:t>
            </a:r>
            <a:r>
              <a:rPr lang="ar-EG" sz="135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بحجم 32 مليار معامل — قفزة كبيرة في الذكاء مقارنة بالنموذج الحالي، وتكفي للمهام المركبة اليومية: توثيق كامل، فلاتر وقوالب، قراءة جداول، أوامر متسلسلة.</a:t>
            </a:r>
            <a:endParaRPr lang="en-US" sz="1350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D14D7-5899-B2CC-EB20-52212D3DCB19}"/>
              </a:ext>
            </a:extLst>
          </p:cNvPr>
          <p:cNvSpPr txBox="1"/>
          <p:nvPr/>
        </p:nvSpPr>
        <p:spPr>
          <a:xfrm>
            <a:off x="6350000" y="3619500"/>
            <a:ext cx="5270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5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كل أجهزة المهندسين تتصل به فورًا — الأداة جاهزة لذلك اليوم بدون أي تطوير إضافي (تغيير سطر واحد في الإعدادات).</a:t>
            </a:r>
            <a:endParaRPr lang="en-US" sz="1350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9052C0-BA0B-BC45-47C6-C4AE23355724}"/>
              </a:ext>
            </a:extLst>
          </p:cNvPr>
          <p:cNvSpPr/>
          <p:nvPr/>
        </p:nvSpPr>
        <p:spPr>
          <a:xfrm>
            <a:off x="571500" y="1333500"/>
            <a:ext cx="5461000" cy="38735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53FD5-34B4-A124-2F68-3541D783B39D}"/>
              </a:ext>
            </a:extLst>
          </p:cNvPr>
          <p:cNvSpPr txBox="1"/>
          <p:nvPr/>
        </p:nvSpPr>
        <p:spPr>
          <a:xfrm>
            <a:off x="800100" y="1524000"/>
            <a:ext cx="501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5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المواصفات المقترحة</a:t>
            </a:r>
            <a:endParaRPr lang="en-US" sz="15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75FA47-0D3F-8007-33B2-B35F1D38358D}"/>
              </a:ext>
            </a:extLst>
          </p:cNvPr>
          <p:cNvSpPr txBox="1"/>
          <p:nvPr/>
        </p:nvSpPr>
        <p:spPr>
          <a:xfrm>
            <a:off x="4064000" y="1968500"/>
            <a:ext cx="177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كارت شاشة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AC98F-8DFA-87AC-07FD-FA66C9CEE8DF}"/>
              </a:ext>
            </a:extLst>
          </p:cNvPr>
          <p:cNvSpPr txBox="1"/>
          <p:nvPr/>
        </p:nvSpPr>
        <p:spPr>
          <a:xfrm>
            <a:off x="800100" y="19685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24GB VRAM — </a:t>
            </a:r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مثل </a:t>
            </a:r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RTX 4090 </a:t>
            </a:r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أو </a:t>
            </a:r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RTX 3090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6081B-310E-21F1-0F42-81E0A675ABF4}"/>
              </a:ext>
            </a:extLst>
          </p:cNvPr>
          <p:cNvSpPr txBox="1"/>
          <p:nvPr/>
        </p:nvSpPr>
        <p:spPr>
          <a:xfrm>
            <a:off x="4064000" y="2425700"/>
            <a:ext cx="177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الذاكرة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3330C-C8F6-3E99-6111-2039EB707E86}"/>
              </a:ext>
            </a:extLst>
          </p:cNvPr>
          <p:cNvSpPr txBox="1"/>
          <p:nvPr/>
        </p:nvSpPr>
        <p:spPr>
          <a:xfrm>
            <a:off x="800100" y="24257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64GB 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406ED9-686E-0177-6B48-852313017862}"/>
              </a:ext>
            </a:extLst>
          </p:cNvPr>
          <p:cNvSpPr txBox="1"/>
          <p:nvPr/>
        </p:nvSpPr>
        <p:spPr>
          <a:xfrm>
            <a:off x="4064000" y="2882900"/>
            <a:ext cx="177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التخزين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DD51B0-7B78-E06B-8195-D5602E167E25}"/>
              </a:ext>
            </a:extLst>
          </p:cNvPr>
          <p:cNvSpPr txBox="1"/>
          <p:nvPr/>
        </p:nvSpPr>
        <p:spPr>
          <a:xfrm>
            <a:off x="800100" y="28829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1TB NVMe SSD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DF73CE-9B2A-9506-204A-D22142A0D9A6}"/>
              </a:ext>
            </a:extLst>
          </p:cNvPr>
          <p:cNvSpPr txBox="1"/>
          <p:nvPr/>
        </p:nvSpPr>
        <p:spPr>
          <a:xfrm>
            <a:off x="4064000" y="3340100"/>
            <a:ext cx="177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التشغيل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6D7B3D-F743-E006-9014-C2B8B43DF45D}"/>
              </a:ext>
            </a:extLst>
          </p:cNvPr>
          <p:cNvSpPr txBox="1"/>
          <p:nvPr/>
        </p:nvSpPr>
        <p:spPr>
          <a:xfrm>
            <a:off x="800100" y="33401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Ollama — </a:t>
            </a:r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يخدم من 5 إلى 10 مهندسين متزامنين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E01B31-F33F-8DD1-C6F7-2D2EB0CCBF54}"/>
              </a:ext>
            </a:extLst>
          </p:cNvPr>
          <p:cNvSpPr txBox="1"/>
          <p:nvPr/>
        </p:nvSpPr>
        <p:spPr>
          <a:xfrm>
            <a:off x="4064000" y="3797300"/>
            <a:ext cx="177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السرعة المتوقعة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F39C46-F715-125E-E9A2-0B4A349981B3}"/>
              </a:ext>
            </a:extLst>
          </p:cNvPr>
          <p:cNvSpPr txBox="1"/>
          <p:nvPr/>
        </p:nvSpPr>
        <p:spPr>
          <a:xfrm>
            <a:off x="800100" y="37973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 إلى 35 توكن/ثانية (استجابة شبه فورية)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0AF3E2-E061-F025-FEB5-3FBD49118FBE}"/>
              </a:ext>
            </a:extLst>
          </p:cNvPr>
          <p:cNvSpPr/>
          <p:nvPr/>
        </p:nvSpPr>
        <p:spPr>
          <a:xfrm>
            <a:off x="800100" y="4343400"/>
            <a:ext cx="5016500" cy="660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140154-9CC7-13A2-A93B-F75F102CE88A}"/>
              </a:ext>
            </a:extLst>
          </p:cNvPr>
          <p:cNvSpPr txBox="1"/>
          <p:nvPr/>
        </p:nvSpPr>
        <p:spPr>
          <a:xfrm>
            <a:off x="889000" y="4508500"/>
            <a:ext cx="4826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4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التكلفة التقديرية: بين 2,000 و3,500 دولار (مرة واحدة)</a:t>
            </a:r>
            <a:endParaRPr lang="en-US" sz="145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CD32612-866C-5ED1-D5AA-91F22BD68DDF}"/>
              </a:ext>
            </a:extLst>
          </p:cNvPr>
          <p:cNvSpPr/>
          <p:nvPr/>
        </p:nvSpPr>
        <p:spPr>
          <a:xfrm>
            <a:off x="571500" y="5588000"/>
            <a:ext cx="11049000" cy="698500"/>
          </a:xfrm>
          <a:prstGeom prst="roundRect">
            <a:avLst>
              <a:gd name="adj" fmla="val 8000"/>
            </a:avLst>
          </a:prstGeom>
          <a:solidFill>
            <a:srgbClr val="EAF3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55E489-91C7-6F21-6D6E-DED0E6B9375E}"/>
              </a:ext>
            </a:extLst>
          </p:cNvPr>
          <p:cNvSpPr txBox="1"/>
          <p:nvPr/>
        </p:nvSpPr>
        <p:spPr>
          <a:xfrm>
            <a:off x="800100" y="5740400"/>
            <a:ext cx="10604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50" b="1">
                <a:solidFill>
                  <a:srgbClr val="1E6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الأنسب لـ: بدء التشغيل الفعلي على مستوى القسم — أفضل نسبة عائد إلى تكلفة، وقابل للترقية لاحقًا بإضافة كارت ثانٍ.</a:t>
            </a:r>
            <a:endParaRPr lang="en-US" sz="1350" b="1">
              <a:solidFill>
                <a:srgbClr val="1E6B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237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4B9AA-B864-851D-594D-A44D9D2317BD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المقترح 2 — سيرفر أقوى (نموذج 70</a:t>
            </a:r>
            <a:r>
              <a:rPr lang="en-US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B9870-E9C0-2C54-FCFA-2EB3ACF79C8D}"/>
              </a:ext>
            </a:extLst>
          </p:cNvPr>
          <p:cNvSpPr txBox="1"/>
          <p:nvPr/>
        </p:nvSpPr>
        <p:spPr>
          <a:xfrm>
            <a:off x="6350000" y="1333500"/>
            <a:ext cx="5270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50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نفس الفكرة بقدرة أعلى: نموذج بحجم 70 مليار معامل بذكاء يقارب النماذج السحابية التجارية.</a:t>
            </a:r>
            <a:endParaRPr lang="en-US" sz="150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65CC4-BA3B-7539-C02C-72F87CC2DD3C}"/>
              </a:ext>
            </a:extLst>
          </p:cNvPr>
          <p:cNvSpPr txBox="1"/>
          <p:nvPr/>
        </p:nvSpPr>
        <p:spPr>
          <a:xfrm>
            <a:off x="6350000" y="2159000"/>
            <a:ext cx="5270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5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يتعامل بثقة مع الطلبات الطويلة متعددة الخطوات، وفهم أدق للعربية، ونتائج أكثر اتساقًا — مع بقاء كل البيانات داخل الشركة.</a:t>
            </a:r>
            <a:endParaRPr lang="en-US" sz="1350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0122F-3CB9-F8FF-6813-9EA9D18A96CF}"/>
              </a:ext>
            </a:extLst>
          </p:cNvPr>
          <p:cNvSpPr txBox="1"/>
          <p:nvPr/>
        </p:nvSpPr>
        <p:spPr>
          <a:xfrm>
            <a:off x="6350000" y="3429000"/>
            <a:ext cx="5270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5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مناسب أيضًا لأحمال مستقبلية: مساعد مستندات، مراجعة عقود، وأتمتة أوسع على مستوى الشركة.</a:t>
            </a:r>
            <a:endParaRPr lang="en-US" sz="1350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2016B9-32CF-E171-0E62-12402D692944}"/>
              </a:ext>
            </a:extLst>
          </p:cNvPr>
          <p:cNvSpPr/>
          <p:nvPr/>
        </p:nvSpPr>
        <p:spPr>
          <a:xfrm>
            <a:off x="571500" y="1333500"/>
            <a:ext cx="5461000" cy="38735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803D5A-5DED-D55E-2CE0-8B49AD35D776}"/>
              </a:ext>
            </a:extLst>
          </p:cNvPr>
          <p:cNvSpPr txBox="1"/>
          <p:nvPr/>
        </p:nvSpPr>
        <p:spPr>
          <a:xfrm>
            <a:off x="800100" y="1524000"/>
            <a:ext cx="501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5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المواصفات المقترحة</a:t>
            </a:r>
            <a:endParaRPr lang="en-US" sz="15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368FE-0A77-081D-3271-1D9DFBB9C3B8}"/>
              </a:ext>
            </a:extLst>
          </p:cNvPr>
          <p:cNvSpPr txBox="1"/>
          <p:nvPr/>
        </p:nvSpPr>
        <p:spPr>
          <a:xfrm>
            <a:off x="4064000" y="1968500"/>
            <a:ext cx="177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كروت الشاشة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08286-75E2-CDF0-DAC7-A228DC211BAD}"/>
              </a:ext>
            </a:extLst>
          </p:cNvPr>
          <p:cNvSpPr txBox="1"/>
          <p:nvPr/>
        </p:nvSpPr>
        <p:spPr>
          <a:xfrm>
            <a:off x="800100" y="19685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48GB VRAM — </a:t>
            </a:r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كارتان 24</a:t>
            </a:r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GB </a:t>
            </a:r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أو كارت واحد 48</a:t>
            </a:r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BF691A-027D-E0B7-16A2-3C2CC4901C96}"/>
              </a:ext>
            </a:extLst>
          </p:cNvPr>
          <p:cNvSpPr txBox="1"/>
          <p:nvPr/>
        </p:nvSpPr>
        <p:spPr>
          <a:xfrm>
            <a:off x="4064000" y="2425700"/>
            <a:ext cx="177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الذاكرة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FE9DB2-D963-5D8D-03A8-9CEE94341432}"/>
              </a:ext>
            </a:extLst>
          </p:cNvPr>
          <p:cNvSpPr txBox="1"/>
          <p:nvPr/>
        </p:nvSpPr>
        <p:spPr>
          <a:xfrm>
            <a:off x="800100" y="24257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128GB 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CCF1B0-4A8F-4A64-1DAF-456FD7D34A3E}"/>
              </a:ext>
            </a:extLst>
          </p:cNvPr>
          <p:cNvSpPr txBox="1"/>
          <p:nvPr/>
        </p:nvSpPr>
        <p:spPr>
          <a:xfrm>
            <a:off x="4064000" y="2882900"/>
            <a:ext cx="177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التخزين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8B0F71-FCE1-CA1D-F17F-E562DB0EBCB6}"/>
              </a:ext>
            </a:extLst>
          </p:cNvPr>
          <p:cNvSpPr txBox="1"/>
          <p:nvPr/>
        </p:nvSpPr>
        <p:spPr>
          <a:xfrm>
            <a:off x="800100" y="28829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2TB NVMe SSD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30550C-5A12-69E3-D1F1-9E3897AD71E2}"/>
              </a:ext>
            </a:extLst>
          </p:cNvPr>
          <p:cNvSpPr txBox="1"/>
          <p:nvPr/>
        </p:nvSpPr>
        <p:spPr>
          <a:xfrm>
            <a:off x="4064000" y="3340100"/>
            <a:ext cx="177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التشغيل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547DA-2476-0564-AB4A-4B67DDA0F10D}"/>
              </a:ext>
            </a:extLst>
          </p:cNvPr>
          <p:cNvSpPr txBox="1"/>
          <p:nvPr/>
        </p:nvSpPr>
        <p:spPr>
          <a:xfrm>
            <a:off x="800100" y="33401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Ollama </a:t>
            </a:r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أو </a:t>
            </a:r>
            <a:r>
              <a:rPr lang="en-US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vLLM — </a:t>
            </a:r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يخدم من 10 إلى 20 مهندسًا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80B599-462C-1D7E-F469-F13D5FEAF246}"/>
              </a:ext>
            </a:extLst>
          </p:cNvPr>
          <p:cNvSpPr txBox="1"/>
          <p:nvPr/>
        </p:nvSpPr>
        <p:spPr>
          <a:xfrm>
            <a:off x="4064000" y="3797300"/>
            <a:ext cx="177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 b="1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السرعة المتوقعة</a:t>
            </a:r>
            <a:endParaRPr lang="en-US" sz="1250" b="1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39669-BE0B-DF6A-3D0B-6866DBC00653}"/>
              </a:ext>
            </a:extLst>
          </p:cNvPr>
          <p:cNvSpPr txBox="1"/>
          <p:nvPr/>
        </p:nvSpPr>
        <p:spPr>
          <a:xfrm>
            <a:off x="800100" y="37973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إلى 20 توكن/ثانية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72AFC89-8640-6113-02D8-722CD0FF3D7D}"/>
              </a:ext>
            </a:extLst>
          </p:cNvPr>
          <p:cNvSpPr/>
          <p:nvPr/>
        </p:nvSpPr>
        <p:spPr>
          <a:xfrm>
            <a:off x="800100" y="4343400"/>
            <a:ext cx="5016500" cy="660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DFB17B-26C6-2325-9145-6B73555E52CC}"/>
              </a:ext>
            </a:extLst>
          </p:cNvPr>
          <p:cNvSpPr txBox="1"/>
          <p:nvPr/>
        </p:nvSpPr>
        <p:spPr>
          <a:xfrm>
            <a:off x="889000" y="4508500"/>
            <a:ext cx="4826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4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التكلفة التقديرية: بين 4,500 و8,000 دولار (مرة واحدة)</a:t>
            </a:r>
            <a:endParaRPr lang="en-US" sz="145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9EFB497-62FB-6CC7-0200-62EFD278B8F9}"/>
              </a:ext>
            </a:extLst>
          </p:cNvPr>
          <p:cNvSpPr/>
          <p:nvPr/>
        </p:nvSpPr>
        <p:spPr>
          <a:xfrm>
            <a:off x="571500" y="5588000"/>
            <a:ext cx="11049000" cy="698500"/>
          </a:xfrm>
          <a:prstGeom prst="roundRect">
            <a:avLst>
              <a:gd name="adj" fmla="val 8000"/>
            </a:avLst>
          </a:prstGeom>
          <a:solidFill>
            <a:srgbClr val="FDF3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522835-2E55-157F-B166-11DF55026386}"/>
              </a:ext>
            </a:extLst>
          </p:cNvPr>
          <p:cNvSpPr txBox="1"/>
          <p:nvPr/>
        </p:nvSpPr>
        <p:spPr>
          <a:xfrm>
            <a:off x="800100" y="5740400"/>
            <a:ext cx="10604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50" b="1">
                <a:solidFill>
                  <a:srgbClr val="9A6B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الأنسب لـ: الاعتماد الواسع على مستوى الشركة وأقصى جودة محلية — ويمكن الوصول إليه لاحقًا بالترقية من المقترح 1.</a:t>
            </a:r>
            <a:endParaRPr lang="en-US" sz="1350" b="1">
              <a:solidFill>
                <a:srgbClr val="9A6B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947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202364-1AF1-A664-0329-C426DF3666AD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المقارنة والتوصية</a:t>
            </a:r>
            <a:endParaRPr lang="en-US" sz="29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17EBC8-097B-9AEA-C733-CA7285440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608930"/>
              </p:ext>
            </p:extLst>
          </p:nvPr>
        </p:nvGraphicFramePr>
        <p:xfrm>
          <a:off x="1143000" y="1270000"/>
          <a:ext cx="9906000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837666258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372448636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1098122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rtl="1"/>
                      <a:endParaRPr lang="en-US" sz="1200" b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المقترح 1 — نموذج 32</a:t>
                      </a:r>
                      <a:r>
                        <a:rPr lang="en-US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المقترح 2 — نموذج 70</a:t>
                      </a:r>
                      <a:r>
                        <a:rPr lang="en-US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94159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rtl="1"/>
                      <a:r>
                        <a:rPr lang="ar-EG" sz="12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الاستثمار (مرة واحدة)</a:t>
                      </a:r>
                      <a:endParaRPr lang="en-US" sz="12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2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بين 2,000 و3,500 دولار</a:t>
                      </a:r>
                      <a:endParaRPr lang="en-US" sz="12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2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بين 4,500 و8,000 دولار</a:t>
                      </a:r>
                      <a:endParaRPr lang="en-US" sz="12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44261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rtl="1"/>
                      <a:r>
                        <a:rPr lang="ar-EG" sz="12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مستوى الذكاء</a:t>
                      </a:r>
                      <a:endParaRPr lang="en-US" sz="12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جيد جدًا — يغطي المهام اليومية</a:t>
                      </a:r>
                      <a:endParaRPr lang="en-US" sz="115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قريب من النماذج التجارية</a:t>
                      </a:r>
                      <a:endParaRPr lang="en-US" sz="115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172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rtl="1"/>
                      <a:r>
                        <a:rPr lang="ar-EG" sz="12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المستخدمون المتزامنون</a:t>
                      </a:r>
                      <a:endParaRPr lang="en-US" sz="12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2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من 5 إلى 10 مهندسين</a:t>
                      </a:r>
                      <a:endParaRPr lang="en-US" sz="12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2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من 10 إلى 20 مهندسًا</a:t>
                      </a:r>
                      <a:endParaRPr lang="en-US" sz="12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85617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rtl="1"/>
                      <a:r>
                        <a:rPr lang="ar-EG" sz="12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السرعة</a:t>
                      </a:r>
                      <a:endParaRPr lang="en-US" sz="12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2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 إلى 35 توكن/ث</a:t>
                      </a:r>
                      <a:endParaRPr lang="en-US" sz="12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20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إلى 20 توكن/ث</a:t>
                      </a:r>
                      <a:endParaRPr lang="en-US" sz="120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73167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rtl="1"/>
                      <a:r>
                        <a:rPr lang="ar-EG" sz="1200" b="1">
                          <a:solidFill>
                            <a:srgbClr val="1E27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قابلية الترقية</a:t>
                      </a:r>
                      <a:endParaRPr lang="en-US" sz="1200" b="1">
                        <a:solidFill>
                          <a:srgbClr val="1E27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بإضافة كارت ثانٍ لاحقًا</a:t>
                      </a:r>
                      <a:endParaRPr lang="en-US" sz="115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150" b="0">
                          <a:solidFill>
                            <a:srgbClr val="2329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جاهز لأحمال الشركة كلها</a:t>
                      </a:r>
                      <a:endParaRPr lang="en-US" sz="1150" b="0">
                        <a:solidFill>
                          <a:srgbClr val="23293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anchor="ctr">
                    <a:lnL w="9525" cmpd="sng">
                      <a:solidFill>
                        <a:srgbClr val="D7DEEA"/>
                      </a:solidFill>
                    </a:lnL>
                    <a:lnR w="9525" cmpd="sng">
                      <a:solidFill>
                        <a:srgbClr val="D7DEEA"/>
                      </a:solidFill>
                    </a:lnR>
                    <a:lnT w="9525" cmpd="sng">
                      <a:solidFill>
                        <a:srgbClr val="D7DEEA"/>
                      </a:solidFill>
                    </a:lnT>
                    <a:lnB w="9525" cmpd="sng">
                      <a:solidFill>
                        <a:srgbClr val="D7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79855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FA0F2C-C801-ADEA-2170-07568AEECE7E}"/>
              </a:ext>
            </a:extLst>
          </p:cNvPr>
          <p:cNvSpPr/>
          <p:nvPr/>
        </p:nvSpPr>
        <p:spPr>
          <a:xfrm>
            <a:off x="1143000" y="4953000"/>
            <a:ext cx="9906000" cy="1079500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85909-CC43-70C9-6C90-8E1E6B6A19A2}"/>
              </a:ext>
            </a:extLst>
          </p:cNvPr>
          <p:cNvSpPr txBox="1"/>
          <p:nvPr/>
        </p:nvSpPr>
        <p:spPr>
          <a:xfrm>
            <a:off x="1460500" y="5105400"/>
            <a:ext cx="9271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4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التوصية: البدء بالمقترح 1 فورًا (أفضل عائد/تكلفة)، مع تجهيز السيرفر بمساحة وطاقة تسمح بإضافة كارت ثانٍ — فيصبح الوصول للمقترح 2 لاحقًا ترقية بسيطة لا استبدالًا.</a:t>
            </a:r>
            <a:endParaRPr lang="en-US" sz="145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20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7E0E64-78E7-4108-B86C-0739D40AAF58}"/>
              </a:ext>
            </a:extLst>
          </p:cNvPr>
          <p:cNvSpPr txBox="1"/>
          <p:nvPr/>
        </p:nvSpPr>
        <p:spPr>
          <a:xfrm>
            <a:off x="546100" y="304800"/>
            <a:ext cx="11099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2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خطة التنفيذ — 4 أسابيع من القرار إلى التعميم</a:t>
            </a:r>
            <a:endParaRPr lang="en-US" sz="290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60C09C-27F0-47C4-DBBA-76240BDABA35}"/>
              </a:ext>
            </a:extLst>
          </p:cNvPr>
          <p:cNvSpPr/>
          <p:nvPr/>
        </p:nvSpPr>
        <p:spPr>
          <a:xfrm>
            <a:off x="8991600" y="1333500"/>
            <a:ext cx="2603500" cy="28575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D17F60-63BA-281B-872E-E101724C71E3}"/>
              </a:ext>
            </a:extLst>
          </p:cNvPr>
          <p:cNvSpPr/>
          <p:nvPr/>
        </p:nvSpPr>
        <p:spPr>
          <a:xfrm>
            <a:off x="9988550" y="1549400"/>
            <a:ext cx="609600" cy="6096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D2317-EC14-BDD4-E5E6-FAF7ADA1996F}"/>
              </a:ext>
            </a:extLst>
          </p:cNvPr>
          <p:cNvSpPr txBox="1"/>
          <p:nvPr/>
        </p:nvSpPr>
        <p:spPr>
          <a:xfrm>
            <a:off x="9988550" y="1625600"/>
            <a:ext cx="609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F8917-88C4-9BB4-D994-7D6101136F3A}"/>
              </a:ext>
            </a:extLst>
          </p:cNvPr>
          <p:cNvSpPr txBox="1"/>
          <p:nvPr/>
        </p:nvSpPr>
        <p:spPr>
          <a:xfrm>
            <a:off x="9118600" y="2311400"/>
            <a:ext cx="23495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45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الاعتماد والشراء</a:t>
            </a:r>
            <a:endParaRPr lang="en-US" sz="145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72948-0432-7FB2-48F0-BA33529C3106}"/>
              </a:ext>
            </a:extLst>
          </p:cNvPr>
          <p:cNvSpPr txBox="1"/>
          <p:nvPr/>
        </p:nvSpPr>
        <p:spPr>
          <a:xfrm>
            <a:off x="9156700" y="2730500"/>
            <a:ext cx="22733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اعتماد الميزانية وشراء مكونات السيرفر وتجهيزه.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04C2E-F1A0-5565-55AB-AA2B9BBB7A95}"/>
              </a:ext>
            </a:extLst>
          </p:cNvPr>
          <p:cNvSpPr txBox="1"/>
          <p:nvPr/>
        </p:nvSpPr>
        <p:spPr>
          <a:xfrm>
            <a:off x="9118600" y="3746500"/>
            <a:ext cx="2349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100" b="1">
                <a:solidFill>
                  <a:srgbClr val="B88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الأسبوع 1</a:t>
            </a:r>
            <a:endParaRPr lang="en-US" sz="1100" b="1">
              <a:solidFill>
                <a:srgbClr val="B88A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356A90-1AB6-73F4-60FA-9BD412FC3428}"/>
              </a:ext>
            </a:extLst>
          </p:cNvPr>
          <p:cNvSpPr/>
          <p:nvPr/>
        </p:nvSpPr>
        <p:spPr>
          <a:xfrm>
            <a:off x="6159500" y="1333500"/>
            <a:ext cx="2603500" cy="28575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5EDA87-376A-3EBC-5B64-FCC7E1A851E8}"/>
              </a:ext>
            </a:extLst>
          </p:cNvPr>
          <p:cNvSpPr/>
          <p:nvPr/>
        </p:nvSpPr>
        <p:spPr>
          <a:xfrm>
            <a:off x="7156450" y="1549400"/>
            <a:ext cx="609600" cy="6096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3828F3-B60E-3870-A991-783DEE0A45DE}"/>
              </a:ext>
            </a:extLst>
          </p:cNvPr>
          <p:cNvSpPr txBox="1"/>
          <p:nvPr/>
        </p:nvSpPr>
        <p:spPr>
          <a:xfrm>
            <a:off x="7156450" y="1625600"/>
            <a:ext cx="609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A50DC0-3253-4DC4-3EF8-30498C1FAE32}"/>
              </a:ext>
            </a:extLst>
          </p:cNvPr>
          <p:cNvSpPr txBox="1"/>
          <p:nvPr/>
        </p:nvSpPr>
        <p:spPr>
          <a:xfrm>
            <a:off x="6286500" y="2311400"/>
            <a:ext cx="23495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45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التشغيل والتهيئة</a:t>
            </a:r>
            <a:endParaRPr lang="en-US" sz="145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4C033-F220-9D0A-976D-A2336C89BC78}"/>
              </a:ext>
            </a:extLst>
          </p:cNvPr>
          <p:cNvSpPr txBox="1"/>
          <p:nvPr/>
        </p:nvSpPr>
        <p:spPr>
          <a:xfrm>
            <a:off x="6324600" y="2730500"/>
            <a:ext cx="22733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تركيب النموذج وربط أجهزة المهندسين — الأداة جاهزة.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326ED-5C6E-276D-B511-8F574217672A}"/>
              </a:ext>
            </a:extLst>
          </p:cNvPr>
          <p:cNvSpPr txBox="1"/>
          <p:nvPr/>
        </p:nvSpPr>
        <p:spPr>
          <a:xfrm>
            <a:off x="6286500" y="3746500"/>
            <a:ext cx="2349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100" b="1">
                <a:solidFill>
                  <a:srgbClr val="B88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الأسبوع 2</a:t>
            </a:r>
            <a:endParaRPr lang="en-US" sz="1100" b="1">
              <a:solidFill>
                <a:srgbClr val="B88A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45334F-9618-A395-9AA5-1B1C081EA12A}"/>
              </a:ext>
            </a:extLst>
          </p:cNvPr>
          <p:cNvSpPr/>
          <p:nvPr/>
        </p:nvSpPr>
        <p:spPr>
          <a:xfrm>
            <a:off x="3327400" y="1333500"/>
            <a:ext cx="2603500" cy="28575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3D163EF-640A-FF8C-BDC3-9D0731337009}"/>
              </a:ext>
            </a:extLst>
          </p:cNvPr>
          <p:cNvSpPr/>
          <p:nvPr/>
        </p:nvSpPr>
        <p:spPr>
          <a:xfrm>
            <a:off x="4324350" y="1549400"/>
            <a:ext cx="609600" cy="6096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7BB08B-2DFE-DBA1-A7DF-8C62B4A71DB8}"/>
              </a:ext>
            </a:extLst>
          </p:cNvPr>
          <p:cNvSpPr txBox="1"/>
          <p:nvPr/>
        </p:nvSpPr>
        <p:spPr>
          <a:xfrm>
            <a:off x="4324350" y="1625600"/>
            <a:ext cx="609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5B3F1A-BF28-95CB-746A-1E140DEF8BE6}"/>
              </a:ext>
            </a:extLst>
          </p:cNvPr>
          <p:cNvSpPr txBox="1"/>
          <p:nvPr/>
        </p:nvSpPr>
        <p:spPr>
          <a:xfrm>
            <a:off x="3454400" y="2311400"/>
            <a:ext cx="23495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45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تجربة موجّهة</a:t>
            </a:r>
            <a:endParaRPr lang="en-US" sz="145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A8F1AF-CB49-E625-1EF5-B4E23B0D3E83}"/>
              </a:ext>
            </a:extLst>
          </p:cNvPr>
          <p:cNvSpPr txBox="1"/>
          <p:nvPr/>
        </p:nvSpPr>
        <p:spPr>
          <a:xfrm>
            <a:off x="3492500" y="2730500"/>
            <a:ext cx="22733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مهندسين على مشروع حقيقي + قياس الوقت الموفَّر.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CAA468-1824-0569-F7F7-1231A05F31E0}"/>
              </a:ext>
            </a:extLst>
          </p:cNvPr>
          <p:cNvSpPr txBox="1"/>
          <p:nvPr/>
        </p:nvSpPr>
        <p:spPr>
          <a:xfrm>
            <a:off x="3454400" y="3746500"/>
            <a:ext cx="2349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100" b="1">
                <a:solidFill>
                  <a:srgbClr val="B88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الأسبوعان 2 و3</a:t>
            </a:r>
            <a:endParaRPr lang="en-US" sz="1100" b="1">
              <a:solidFill>
                <a:srgbClr val="B88A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025B060-6771-21F9-1824-CC88AACEA628}"/>
              </a:ext>
            </a:extLst>
          </p:cNvPr>
          <p:cNvSpPr/>
          <p:nvPr/>
        </p:nvSpPr>
        <p:spPr>
          <a:xfrm>
            <a:off x="495300" y="1333500"/>
            <a:ext cx="2603500" cy="28575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D99B5A-26CE-695D-7742-C14ED7FD3823}"/>
              </a:ext>
            </a:extLst>
          </p:cNvPr>
          <p:cNvSpPr/>
          <p:nvPr/>
        </p:nvSpPr>
        <p:spPr>
          <a:xfrm>
            <a:off x="1492250" y="1549400"/>
            <a:ext cx="609600" cy="609600"/>
          </a:xfrm>
          <a:prstGeom prst="ellipse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7BA4A7-20EF-CE26-E8E1-8817854274EA}"/>
              </a:ext>
            </a:extLst>
          </p:cNvPr>
          <p:cNvSpPr txBox="1"/>
          <p:nvPr/>
        </p:nvSpPr>
        <p:spPr>
          <a:xfrm>
            <a:off x="1492250" y="1625600"/>
            <a:ext cx="609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240392-DD39-070E-9A73-7AFB00774536}"/>
              </a:ext>
            </a:extLst>
          </p:cNvPr>
          <p:cNvSpPr txBox="1"/>
          <p:nvPr/>
        </p:nvSpPr>
        <p:spPr>
          <a:xfrm>
            <a:off x="622300" y="2311400"/>
            <a:ext cx="23495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45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التعميم</a:t>
            </a:r>
            <a:endParaRPr lang="en-US" sz="1450" b="1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421899-08B3-52EB-E468-B5D5C64440ED}"/>
              </a:ext>
            </a:extLst>
          </p:cNvPr>
          <p:cNvSpPr txBox="1"/>
          <p:nvPr/>
        </p:nvSpPr>
        <p:spPr>
          <a:xfrm>
            <a:off x="660400" y="2730500"/>
            <a:ext cx="22733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15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تركيب الإضافة للجميع (نقرة واحدة) + جلسة تعريفية.</a:t>
            </a:r>
            <a:endParaRPr lang="en-US" sz="1150">
              <a:solidFill>
                <a:srgbClr val="5A6B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66B228-60C6-C7FF-7590-DD540D864540}"/>
              </a:ext>
            </a:extLst>
          </p:cNvPr>
          <p:cNvSpPr txBox="1"/>
          <p:nvPr/>
        </p:nvSpPr>
        <p:spPr>
          <a:xfrm>
            <a:off x="622300" y="3746500"/>
            <a:ext cx="2349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100" b="1">
                <a:solidFill>
                  <a:srgbClr val="B88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الأسبوع 4</a:t>
            </a:r>
            <a:endParaRPr lang="en-US" sz="1100" b="1">
              <a:solidFill>
                <a:srgbClr val="B88A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4E75116-F1E5-0435-F52F-2A419A71F8E9}"/>
              </a:ext>
            </a:extLst>
          </p:cNvPr>
          <p:cNvSpPr/>
          <p:nvPr/>
        </p:nvSpPr>
        <p:spPr>
          <a:xfrm>
            <a:off x="596900" y="4699000"/>
            <a:ext cx="10998200" cy="1397000"/>
          </a:xfrm>
          <a:prstGeom prst="roundRect">
            <a:avLst>
              <a:gd name="adj" fmla="val 8000"/>
            </a:avLst>
          </a:prstGeom>
          <a:solidFill>
            <a:srgbClr val="FBEE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E3C6BB2-BAE6-3C8C-1040-BF88834F9A9D}"/>
              </a:ext>
            </a:extLst>
          </p:cNvPr>
          <p:cNvSpPr/>
          <p:nvPr/>
        </p:nvSpPr>
        <p:spPr>
          <a:xfrm>
            <a:off x="10858500" y="4889500"/>
            <a:ext cx="508000" cy="508000"/>
          </a:xfrm>
          <a:prstGeom prst="ellipse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93DF63-8625-7AB3-9012-BB0283E3D250}"/>
              </a:ext>
            </a:extLst>
          </p:cNvPr>
          <p:cNvSpPr txBox="1"/>
          <p:nvPr/>
        </p:nvSpPr>
        <p:spPr>
          <a:xfrm>
            <a:off x="10858500" y="495046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DC5C0E-3B26-DB90-4292-3691D7C702CE}"/>
              </a:ext>
            </a:extLst>
          </p:cNvPr>
          <p:cNvSpPr txBox="1"/>
          <p:nvPr/>
        </p:nvSpPr>
        <p:spPr>
          <a:xfrm>
            <a:off x="825500" y="4851400"/>
            <a:ext cx="9779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350" b="1">
                <a:solidFill>
                  <a:srgbClr val="A932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إدارة التوقعات والمخاطر</a:t>
            </a:r>
            <a:endParaRPr lang="en-US" sz="1350" b="1">
              <a:solidFill>
                <a:srgbClr val="A932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6AA519-3117-06EA-C264-5B92AA8A2B74}"/>
              </a:ext>
            </a:extLst>
          </p:cNvPr>
          <p:cNvSpPr txBox="1"/>
          <p:nvPr/>
        </p:nvSpPr>
        <p:spPr>
          <a:xfrm>
            <a:off x="825500" y="52324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0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النموذج المحلي أقل ذكاءً من أقوى النماذج السحابية في الطلبات المعقدة جدًا — الحل الهجين جاهز: زر واحد يحوّل المهمة الصعبة إلى </a:t>
            </a:r>
            <a:r>
              <a:rPr lang="en-US" sz="120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 (</a:t>
            </a:r>
            <a:r>
              <a:rPr lang="ar-EG" sz="1200">
                <a:solidFill>
                  <a:srgbClr val="23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بتكلفة سنتات) ثم يعود للنموذج المحلي. ونقيس النتائج بأرقام في التجربة الموجّهة قبل التعميم.</a:t>
            </a:r>
            <a:endParaRPr lang="en-US" sz="1200">
              <a:solidFill>
                <a:srgbClr val="23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436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F96049-5293-BD5B-396D-CC7B26343606}"/>
              </a:ext>
            </a:extLst>
          </p:cNvPr>
          <p:cNvSpPr txBox="1"/>
          <p:nvPr/>
        </p:nvSpPr>
        <p:spPr>
          <a:xfrm>
            <a:off x="0" y="571500"/>
            <a:ext cx="1219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3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المطلوب من الإدارة</a:t>
            </a:r>
            <a:endParaRPr lang="en-US" sz="33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492137-4176-2893-55E4-0D6E302E5034}"/>
              </a:ext>
            </a:extLst>
          </p:cNvPr>
          <p:cNvSpPr/>
          <p:nvPr/>
        </p:nvSpPr>
        <p:spPr>
          <a:xfrm>
            <a:off x="2032000" y="1651000"/>
            <a:ext cx="8128000" cy="1041400"/>
          </a:xfrm>
          <a:prstGeom prst="roundRect">
            <a:avLst>
              <a:gd name="adj" fmla="val 10000"/>
            </a:avLst>
          </a:prstGeom>
          <a:solidFill>
            <a:srgbClr val="2A35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35373D1-D2ED-ADBD-F5F6-D47EE7D1A321}"/>
              </a:ext>
            </a:extLst>
          </p:cNvPr>
          <p:cNvSpPr/>
          <p:nvPr/>
        </p:nvSpPr>
        <p:spPr>
          <a:xfrm>
            <a:off x="9347200" y="1892300"/>
            <a:ext cx="558800" cy="558800"/>
          </a:xfrm>
          <a:prstGeom prst="ellipse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0F752-8456-A045-F449-772EFBCF1945}"/>
              </a:ext>
            </a:extLst>
          </p:cNvPr>
          <p:cNvSpPr txBox="1"/>
          <p:nvPr/>
        </p:nvSpPr>
        <p:spPr>
          <a:xfrm>
            <a:off x="9347200" y="1968500"/>
            <a:ext cx="558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8FF652-DB65-1A5E-5AC8-3C464A5EAD6D}"/>
              </a:ext>
            </a:extLst>
          </p:cNvPr>
          <p:cNvSpPr txBox="1"/>
          <p:nvPr/>
        </p:nvSpPr>
        <p:spPr>
          <a:xfrm>
            <a:off x="2349500" y="1803400"/>
            <a:ext cx="7048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اعتماد المقترح 1</a:t>
            </a:r>
            <a:endParaRPr lang="en-US" sz="17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E52DB7-F65D-0E19-6D74-A29AC0E4514A}"/>
              </a:ext>
            </a:extLst>
          </p:cNvPr>
          <p:cNvSpPr txBox="1"/>
          <p:nvPr/>
        </p:nvSpPr>
        <p:spPr>
          <a:xfrm>
            <a:off x="2349500" y="2222500"/>
            <a:ext cx="70485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سيرفر بنموذج 32</a:t>
            </a:r>
            <a:r>
              <a:rPr lang="en-US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— </a:t>
            </a:r>
            <a:r>
              <a:rPr lang="ar-EG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استثمار بين 2,000 و3,500 دولار لمرة واحدة</a:t>
            </a:r>
            <a:endParaRPr lang="en-US" sz="1250">
              <a:solidFill>
                <a:srgbClr val="CADC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17F610-9FA5-6998-94B6-4EB1125FC65F}"/>
              </a:ext>
            </a:extLst>
          </p:cNvPr>
          <p:cNvSpPr/>
          <p:nvPr/>
        </p:nvSpPr>
        <p:spPr>
          <a:xfrm>
            <a:off x="2032000" y="2921000"/>
            <a:ext cx="8128000" cy="1041400"/>
          </a:xfrm>
          <a:prstGeom prst="roundRect">
            <a:avLst>
              <a:gd name="adj" fmla="val 10000"/>
            </a:avLst>
          </a:prstGeom>
          <a:solidFill>
            <a:srgbClr val="2A35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A64849-E635-426B-4E7F-86CB7E3ADBFC}"/>
              </a:ext>
            </a:extLst>
          </p:cNvPr>
          <p:cNvSpPr/>
          <p:nvPr/>
        </p:nvSpPr>
        <p:spPr>
          <a:xfrm>
            <a:off x="9347200" y="3162300"/>
            <a:ext cx="558800" cy="558800"/>
          </a:xfrm>
          <a:prstGeom prst="ellipse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5C385-9F97-B86E-C835-CF6A050832EB}"/>
              </a:ext>
            </a:extLst>
          </p:cNvPr>
          <p:cNvSpPr txBox="1"/>
          <p:nvPr/>
        </p:nvSpPr>
        <p:spPr>
          <a:xfrm>
            <a:off x="9347200" y="3238500"/>
            <a:ext cx="558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5080A-145C-607C-01B4-0933C6CBE500}"/>
              </a:ext>
            </a:extLst>
          </p:cNvPr>
          <p:cNvSpPr txBox="1"/>
          <p:nvPr/>
        </p:nvSpPr>
        <p:spPr>
          <a:xfrm>
            <a:off x="2349500" y="3073400"/>
            <a:ext cx="7048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أسبوعا تجربة موجّهة</a:t>
            </a:r>
            <a:endParaRPr lang="en-US" sz="17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1DDE56-4ECC-D169-4587-6EE7E246C7BB}"/>
              </a:ext>
            </a:extLst>
          </p:cNvPr>
          <p:cNvSpPr txBox="1"/>
          <p:nvPr/>
        </p:nvSpPr>
        <p:spPr>
          <a:xfrm>
            <a:off x="2349500" y="3492500"/>
            <a:ext cx="70485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مهندسين + قياس الوقت الموفَّر بأرقام فعلية</a:t>
            </a:r>
            <a:endParaRPr lang="en-US" sz="1250">
              <a:solidFill>
                <a:srgbClr val="CADC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F396F5-15B1-185A-6783-36382730FB4D}"/>
              </a:ext>
            </a:extLst>
          </p:cNvPr>
          <p:cNvSpPr/>
          <p:nvPr/>
        </p:nvSpPr>
        <p:spPr>
          <a:xfrm>
            <a:off x="2032000" y="4191000"/>
            <a:ext cx="8128000" cy="1041400"/>
          </a:xfrm>
          <a:prstGeom prst="roundRect">
            <a:avLst>
              <a:gd name="adj" fmla="val 10000"/>
            </a:avLst>
          </a:prstGeom>
          <a:solidFill>
            <a:srgbClr val="2A35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4C50D79-0E41-312E-DF83-E5A5AB1CB56E}"/>
              </a:ext>
            </a:extLst>
          </p:cNvPr>
          <p:cNvSpPr/>
          <p:nvPr/>
        </p:nvSpPr>
        <p:spPr>
          <a:xfrm>
            <a:off x="9347200" y="4432300"/>
            <a:ext cx="558800" cy="558800"/>
          </a:xfrm>
          <a:prstGeom prst="ellipse">
            <a:avLst/>
          </a:prstGeom>
          <a:solidFill>
            <a:srgbClr val="E8B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A816F-F11A-AF81-50B7-099E10FD2B96}"/>
              </a:ext>
            </a:extLst>
          </p:cNvPr>
          <p:cNvSpPr txBox="1"/>
          <p:nvPr/>
        </p:nvSpPr>
        <p:spPr>
          <a:xfrm>
            <a:off x="9347200" y="4508500"/>
            <a:ext cx="558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900" b="1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AB1873-6F7D-A7B9-8FB6-4F796BD1D61C}"/>
              </a:ext>
            </a:extLst>
          </p:cNvPr>
          <p:cNvSpPr txBox="1"/>
          <p:nvPr/>
        </p:nvSpPr>
        <p:spPr>
          <a:xfrm>
            <a:off x="2349500" y="4343400"/>
            <a:ext cx="7048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قرار التعميم</a:t>
            </a:r>
            <a:endParaRPr lang="en-US" sz="17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0A0D1E-1DC1-F11F-DB40-A9AE66F102E3}"/>
              </a:ext>
            </a:extLst>
          </p:cNvPr>
          <p:cNvSpPr txBox="1"/>
          <p:nvPr/>
        </p:nvSpPr>
        <p:spPr>
          <a:xfrm>
            <a:off x="2349500" y="4762500"/>
            <a:ext cx="70485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 rtl="1"/>
            <a:r>
              <a:rPr lang="ar-EG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بناءً على نتائج التجربة — والترقية لاحقًا لنموذج 70</a:t>
            </a:r>
            <a:r>
              <a:rPr lang="en-US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ar-EG" sz="125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متاحة دائمًا</a:t>
            </a:r>
            <a:endParaRPr lang="en-US" sz="1250">
              <a:solidFill>
                <a:srgbClr val="CADC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3E2FD4-1EDD-BEFD-30C3-68273A644623}"/>
              </a:ext>
            </a:extLst>
          </p:cNvPr>
          <p:cNvSpPr txBox="1"/>
          <p:nvPr/>
        </p:nvSpPr>
        <p:spPr>
          <a:xfrm>
            <a:off x="1397000" y="5778500"/>
            <a:ext cx="939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rtl="1"/>
            <a:r>
              <a:rPr lang="ar-EG" sz="1600" b="1">
                <a:solidFill>
                  <a:srgbClr val="E8B3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الأداة جاهزة اليوم — القرار يحدد فقط حجم العقل الذي نشغّلها به.</a:t>
            </a:r>
            <a:endParaRPr lang="en-US" sz="1600" b="1">
              <a:solidFill>
                <a:srgbClr val="E8B33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390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1393</Words>
  <Application>Microsoft Office PowerPoint</Application>
  <PresentationFormat>Custom</PresentationFormat>
  <Paragraphs>254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Hossam Yousef</dc:creator>
  <cp:lastModifiedBy>Hossam Yousef</cp:lastModifiedBy>
  <cp:revision>1</cp:revision>
  <dcterms:created xsi:type="dcterms:W3CDTF">2026-07-27T22:05:41Z</dcterms:created>
  <dcterms:modified xsi:type="dcterms:W3CDTF">2026-07-27T22:05:41Z</dcterms:modified>
</cp:coreProperties>
</file>